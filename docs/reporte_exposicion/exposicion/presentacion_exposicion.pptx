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74" r:id="rId2"/>
    <p:sldId id="276" r:id="rId3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285" r:id="rId17"/>
    <p:sldId id="286" r:id="rId18"/>
    <p:sldId id="287" r:id="rId19"/>
    <p:sldId id="288" r:id="rId20"/>
    <p:sldId id="289" r:id="rId21"/>
    <p:sldId id="290" r:id="rId22"/>
    <p:sldId id="291" r:id="rId23"/>
    <p:sldId id="292" r:id="rId24"/>
    <p:sldId id="293" r:id="rId25"/>
    <p:sldId id="294" r:id="rId26"/>
    <p:sldId id="295" r:id="rId27"/>
    <p:sldId id="296" r:id="rId28"/>
    <p:sldId id="297" r:id="rId29"/>
    <p:sldId id="298" r:id="rId30"/>
    <p:sldId id="299" r:id="rId31"/>
    <p:sldId id="300" r:id="rId32"/>
    <p:sldId id="301" r:id="rId33"/>
    <p:sldId id="302" r:id="rId34"/>
    <p:sldId id="303" r:id="rId35"/>
    <p:sldId id="304" r:id="rId36"/>
    <p:sldId id="305" r:id="rId37"/>
    <p:sldId id="306" r:id="rId38"/>
    <p:sldId id="307" r:id="rId39"/>
    <p:sldId id="308" r:id="rId40"/>
    <p:sldId id="309" r:id="rId41"/>
  </p:sldIdLst>
  <p:sldSz cx="9144000" cy="5143500" type="screen16x9"/>
  <p:notesSz cx="9144000" cy="6858000"/>
  <p:defaultTextStyle>
    <a:defPPr>
      <a:defRPr lang="es-MX"/>
    </a:defPPr>
    <a:lvl1pPr marL="0" algn="l" defTabSz="1412243" rtl="0" eaLnBrk="1" latinLnBrk="0" hangingPunct="1">
      <a:defRPr sz="2779" kern="1200">
        <a:solidFill>
          <a:schemeClr val="tx1"/>
        </a:solidFill>
        <a:latin typeface="+mn-lt"/>
        <a:ea typeface="+mn-ea"/>
        <a:cs typeface="+mn-cs"/>
      </a:defRPr>
    </a:lvl1pPr>
    <a:lvl2pPr marL="706122" algn="l" defTabSz="1412243" rtl="0" eaLnBrk="1" latinLnBrk="0" hangingPunct="1">
      <a:defRPr sz="2779" kern="1200">
        <a:solidFill>
          <a:schemeClr val="tx1"/>
        </a:solidFill>
        <a:latin typeface="+mn-lt"/>
        <a:ea typeface="+mn-ea"/>
        <a:cs typeface="+mn-cs"/>
      </a:defRPr>
    </a:lvl2pPr>
    <a:lvl3pPr marL="1412243" algn="l" defTabSz="1412243" rtl="0" eaLnBrk="1" latinLnBrk="0" hangingPunct="1">
      <a:defRPr sz="2779" kern="1200">
        <a:solidFill>
          <a:schemeClr val="tx1"/>
        </a:solidFill>
        <a:latin typeface="+mn-lt"/>
        <a:ea typeface="+mn-ea"/>
        <a:cs typeface="+mn-cs"/>
      </a:defRPr>
    </a:lvl3pPr>
    <a:lvl4pPr marL="2118365" algn="l" defTabSz="1412243" rtl="0" eaLnBrk="1" latinLnBrk="0" hangingPunct="1">
      <a:defRPr sz="2779" kern="1200">
        <a:solidFill>
          <a:schemeClr val="tx1"/>
        </a:solidFill>
        <a:latin typeface="+mn-lt"/>
        <a:ea typeface="+mn-ea"/>
        <a:cs typeface="+mn-cs"/>
      </a:defRPr>
    </a:lvl4pPr>
    <a:lvl5pPr marL="2824487" algn="l" defTabSz="1412243" rtl="0" eaLnBrk="1" latinLnBrk="0" hangingPunct="1">
      <a:defRPr sz="2779" kern="1200">
        <a:solidFill>
          <a:schemeClr val="tx1"/>
        </a:solidFill>
        <a:latin typeface="+mn-lt"/>
        <a:ea typeface="+mn-ea"/>
        <a:cs typeface="+mn-cs"/>
      </a:defRPr>
    </a:lvl5pPr>
    <a:lvl6pPr marL="3530609" algn="l" defTabSz="1412243" rtl="0" eaLnBrk="1" latinLnBrk="0" hangingPunct="1">
      <a:defRPr sz="2779" kern="1200">
        <a:solidFill>
          <a:schemeClr val="tx1"/>
        </a:solidFill>
        <a:latin typeface="+mn-lt"/>
        <a:ea typeface="+mn-ea"/>
        <a:cs typeface="+mn-cs"/>
      </a:defRPr>
    </a:lvl6pPr>
    <a:lvl7pPr marL="4236730" algn="l" defTabSz="1412243" rtl="0" eaLnBrk="1" latinLnBrk="0" hangingPunct="1">
      <a:defRPr sz="2779" kern="1200">
        <a:solidFill>
          <a:schemeClr val="tx1"/>
        </a:solidFill>
        <a:latin typeface="+mn-lt"/>
        <a:ea typeface="+mn-ea"/>
        <a:cs typeface="+mn-cs"/>
      </a:defRPr>
    </a:lvl7pPr>
    <a:lvl8pPr marL="4942852" algn="l" defTabSz="1412243" rtl="0" eaLnBrk="1" latinLnBrk="0" hangingPunct="1">
      <a:defRPr sz="2779" kern="1200">
        <a:solidFill>
          <a:schemeClr val="tx1"/>
        </a:solidFill>
        <a:latin typeface="+mn-lt"/>
        <a:ea typeface="+mn-ea"/>
        <a:cs typeface="+mn-cs"/>
      </a:defRPr>
    </a:lvl8pPr>
    <a:lvl9pPr marL="5648974" algn="l" defTabSz="1412243" rtl="0" eaLnBrk="1" latinLnBrk="0" hangingPunct="1">
      <a:defRPr sz="277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1" userDrawn="1">
          <p15:clr>
            <a:srgbClr val="A4A3A4"/>
          </p15:clr>
        </p15:guide>
        <p15:guide id="2" pos="288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D4D4D"/>
    <a:srgbClr val="28AD56"/>
    <a:srgbClr val="1852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>
      <p:cViewPr>
        <p:scale>
          <a:sx n="100" d="100"/>
          <a:sy n="100" d="100"/>
        </p:scale>
        <p:origin x="974" y="269"/>
      </p:cViewPr>
      <p:guideLst>
        <p:guide orient="horz" pos="1621"/>
        <p:guide pos="288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117" d="100"/>
          <a:sy n="117" d="100"/>
        </p:scale>
        <p:origin x="2352" y="9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49DCB8-392E-40F3-82B8-A61CDD22F42E}" type="datetimeFigureOut">
              <a:rPr lang="es-MX" smtClean="0"/>
              <a:t>19/09/2025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7AC556-5F5F-4A49-B74B-479FE9160B00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32405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4 Rectángulo"/>
          <p:cNvSpPr/>
          <p:nvPr userDrawn="1"/>
        </p:nvSpPr>
        <p:spPr>
          <a:xfrm>
            <a:off x="0" y="6694"/>
            <a:ext cx="9144000" cy="514455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74066" fontAlgn="auto">
              <a:spcBef>
                <a:spcPts val="0"/>
              </a:spcBef>
              <a:spcAft>
                <a:spcPts val="0"/>
              </a:spcAft>
              <a:defRPr/>
            </a:pPr>
            <a:endParaRPr lang="es-MX" sz="1323"/>
          </a:p>
        </p:txBody>
      </p:sp>
      <p:sp>
        <p:nvSpPr>
          <p:cNvPr id="2" name="1 Título"/>
          <p:cNvSpPr>
            <a:spLocks noGrp="1"/>
          </p:cNvSpPr>
          <p:nvPr>
            <p:ph type="title" hasCustomPrompt="1"/>
          </p:nvPr>
        </p:nvSpPr>
        <p:spPr>
          <a:xfrm>
            <a:off x="3523128" y="1609836"/>
            <a:ext cx="4484290" cy="142692"/>
          </a:xfrm>
        </p:spPr>
        <p:txBody>
          <a:bodyPr lIns="36000" tIns="0" anchor="t" anchorCtr="0">
            <a:noAutofit/>
          </a:bodyPr>
          <a:lstStyle>
            <a:lvl1pPr algn="r">
              <a:lnSpc>
                <a:spcPts val="800"/>
              </a:lnSpc>
              <a:defRPr sz="700" b="1" baseline="0">
                <a:solidFill>
                  <a:schemeClr val="tx1"/>
                </a:solidFill>
                <a:latin typeface="Gill Sans MT" panose="020B0502020104020203" pitchFamily="34" charset="0"/>
              </a:defRPr>
            </a:lvl1pPr>
          </a:lstStyle>
          <a:p>
            <a:r>
              <a:rPr lang="es-ES" dirty="0"/>
              <a:t>Haga clic aquí para escribir el nombre de la entidad académica</a:t>
            </a:r>
            <a:endParaRPr lang="es-MX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 hasCustomPrompt="1"/>
          </p:nvPr>
        </p:nvSpPr>
        <p:spPr>
          <a:xfrm>
            <a:off x="3529049" y="1877162"/>
            <a:ext cx="4484290" cy="190532"/>
          </a:xfrm>
        </p:spPr>
        <p:txBody>
          <a:bodyPr lIns="54000">
            <a:noAutofit/>
          </a:bodyPr>
          <a:lstStyle>
            <a:lvl1pPr marL="0" indent="0" algn="r">
              <a:lnSpc>
                <a:spcPts val="800"/>
              </a:lnSpc>
              <a:spcBef>
                <a:spcPts val="0"/>
              </a:spcBef>
              <a:buNone/>
              <a:defRPr sz="700" b="1" baseline="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149113" indent="0">
              <a:buNone/>
              <a:defRPr sz="392"/>
            </a:lvl2pPr>
            <a:lvl3pPr marL="298227" indent="0">
              <a:buNone/>
              <a:defRPr sz="326"/>
            </a:lvl3pPr>
            <a:lvl4pPr marL="447341" indent="0">
              <a:buNone/>
              <a:defRPr sz="294"/>
            </a:lvl4pPr>
            <a:lvl5pPr marL="596453" indent="0">
              <a:buNone/>
              <a:defRPr sz="294"/>
            </a:lvl5pPr>
            <a:lvl6pPr marL="745567" indent="0">
              <a:buNone/>
              <a:defRPr sz="294"/>
            </a:lvl6pPr>
            <a:lvl7pPr marL="894681" indent="0">
              <a:buNone/>
              <a:defRPr sz="294"/>
            </a:lvl7pPr>
            <a:lvl8pPr marL="1043795" indent="0">
              <a:buNone/>
              <a:defRPr sz="294"/>
            </a:lvl8pPr>
            <a:lvl9pPr marL="1192908" indent="0">
              <a:buNone/>
              <a:defRPr sz="294"/>
            </a:lvl9pPr>
          </a:lstStyle>
          <a:p>
            <a:pPr lvl="0"/>
            <a:r>
              <a:rPr lang="es-ES" dirty="0"/>
              <a:t>Haga clic aquí para escribir el nombre de la región</a:t>
            </a:r>
          </a:p>
        </p:txBody>
      </p:sp>
      <p:sp>
        <p:nvSpPr>
          <p:cNvPr id="14" name="Rectángulo 13"/>
          <p:cNvSpPr/>
          <p:nvPr userDrawn="1"/>
        </p:nvSpPr>
        <p:spPr>
          <a:xfrm>
            <a:off x="442039" y="-2"/>
            <a:ext cx="2425533" cy="3387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2293"/>
          </a:p>
        </p:txBody>
      </p:sp>
      <p:sp>
        <p:nvSpPr>
          <p:cNvPr id="15" name="Rectángulo 14"/>
          <p:cNvSpPr/>
          <p:nvPr userDrawn="1"/>
        </p:nvSpPr>
        <p:spPr>
          <a:xfrm>
            <a:off x="343706" y="1290714"/>
            <a:ext cx="2425533" cy="5189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2293"/>
          </a:p>
        </p:txBody>
      </p:sp>
      <p:sp>
        <p:nvSpPr>
          <p:cNvPr id="18" name="Rectángulo 17"/>
          <p:cNvSpPr/>
          <p:nvPr userDrawn="1"/>
        </p:nvSpPr>
        <p:spPr>
          <a:xfrm rot="5400000">
            <a:off x="-552684" y="552692"/>
            <a:ext cx="1809624" cy="7042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2293"/>
          </a:p>
        </p:txBody>
      </p:sp>
      <p:sp>
        <p:nvSpPr>
          <p:cNvPr id="20" name="Rectángulo 19"/>
          <p:cNvSpPr/>
          <p:nvPr userDrawn="1"/>
        </p:nvSpPr>
        <p:spPr>
          <a:xfrm rot="5400000">
            <a:off x="1872849" y="552691"/>
            <a:ext cx="1809624" cy="7042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2293"/>
          </a:p>
        </p:txBody>
      </p:sp>
      <p:pic>
        <p:nvPicPr>
          <p:cNvPr id="17" name="3 Imagen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7862" y="298800"/>
            <a:ext cx="1482702" cy="1277372"/>
          </a:xfrm>
          <a:prstGeom prst="rect">
            <a:avLst/>
          </a:prstGeom>
        </p:spPr>
      </p:pic>
      <p:pic>
        <p:nvPicPr>
          <p:cNvPr id="19" name="1 Imagen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59782"/>
            <a:ext cx="2789022" cy="2283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28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1 Marcador de título"/>
          <p:cNvSpPr>
            <a:spLocks noGrp="1"/>
          </p:cNvSpPr>
          <p:nvPr>
            <p:ph type="title"/>
          </p:nvPr>
        </p:nvSpPr>
        <p:spPr>
          <a:xfrm>
            <a:off x="457202" y="685219"/>
            <a:ext cx="8229600" cy="3423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lnSpc>
                <a:spcPts val="2600"/>
              </a:lnSpc>
              <a:defRPr sz="2200"/>
            </a:lvl1pPr>
          </a:lstStyle>
          <a:p>
            <a:r>
              <a:rPr lang="en-US"/>
              <a:t>Click to edit Master title style</a:t>
            </a:r>
            <a:endParaRPr lang="es-MX" dirty="0"/>
          </a:p>
        </p:txBody>
      </p:sp>
      <p:sp>
        <p:nvSpPr>
          <p:cNvPr id="8" name="Marcador de texto 7"/>
          <p:cNvSpPr>
            <a:spLocks noGrp="1"/>
          </p:cNvSpPr>
          <p:nvPr>
            <p:ph type="body" sz="quarter" idx="10"/>
          </p:nvPr>
        </p:nvSpPr>
        <p:spPr>
          <a:xfrm>
            <a:off x="1228698" y="1190396"/>
            <a:ext cx="7458104" cy="33944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52393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1 Marcador de título"/>
          <p:cNvSpPr>
            <a:spLocks noGrp="1"/>
          </p:cNvSpPr>
          <p:nvPr>
            <p:ph type="title" hasCustomPrompt="1"/>
          </p:nvPr>
        </p:nvSpPr>
        <p:spPr>
          <a:xfrm>
            <a:off x="1202211" y="2070727"/>
            <a:ext cx="7458104" cy="4290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lnSpc>
                <a:spcPts val="2300"/>
              </a:lnSpc>
              <a:defRPr sz="190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s-ES" dirty="0"/>
              <a:t>Haga clic aquí para agregar el título</a:t>
            </a:r>
            <a:endParaRPr lang="es-MX" dirty="0"/>
          </a:p>
        </p:txBody>
      </p:sp>
      <p:sp>
        <p:nvSpPr>
          <p:cNvPr id="9" name="Marcador de texto 8"/>
          <p:cNvSpPr>
            <a:spLocks noGrp="1"/>
          </p:cNvSpPr>
          <p:nvPr>
            <p:ph type="body" sz="quarter" idx="10" hasCustomPrompt="1"/>
          </p:nvPr>
        </p:nvSpPr>
        <p:spPr>
          <a:xfrm>
            <a:off x="1202210" y="2464294"/>
            <a:ext cx="7457411" cy="821959"/>
          </a:xfrm>
        </p:spPr>
        <p:txBody>
          <a:bodyPr>
            <a:normAutofit/>
          </a:bodyPr>
          <a:lstStyle>
            <a:lvl1pPr algn="r">
              <a:lnSpc>
                <a:spcPts val="2600"/>
              </a:lnSpc>
              <a:defRPr sz="220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Haga clic para agregar el subtítulo</a:t>
            </a:r>
          </a:p>
        </p:txBody>
      </p:sp>
      <p:pic>
        <p:nvPicPr>
          <p:cNvPr id="5" name="3 Imagen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291830"/>
            <a:ext cx="2261378" cy="1851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037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arcador de contenido 10"/>
          <p:cNvSpPr>
            <a:spLocks noGrp="1"/>
          </p:cNvSpPr>
          <p:nvPr>
            <p:ph sz="quarter" idx="14"/>
          </p:nvPr>
        </p:nvSpPr>
        <p:spPr>
          <a:xfrm>
            <a:off x="442762" y="1714367"/>
            <a:ext cx="4029604" cy="28659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Marcador de contenido 12"/>
          <p:cNvSpPr>
            <a:spLocks noGrp="1"/>
          </p:cNvSpPr>
          <p:nvPr>
            <p:ph sz="quarter" idx="15"/>
          </p:nvPr>
        </p:nvSpPr>
        <p:spPr>
          <a:xfrm>
            <a:off x="4703109" y="1714366"/>
            <a:ext cx="3866296" cy="28659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Marcador de texto 18"/>
          <p:cNvSpPr>
            <a:spLocks noGrp="1"/>
          </p:cNvSpPr>
          <p:nvPr>
            <p:ph type="body" sz="quarter" idx="16" hasCustomPrompt="1"/>
          </p:nvPr>
        </p:nvSpPr>
        <p:spPr>
          <a:xfrm>
            <a:off x="4703109" y="971007"/>
            <a:ext cx="3866297" cy="74335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Haga clic para modificar el estilo de título del patrón</a:t>
            </a:r>
          </a:p>
        </p:txBody>
      </p:sp>
      <p:sp>
        <p:nvSpPr>
          <p:cNvPr id="23" name="Marcador de texto 18"/>
          <p:cNvSpPr>
            <a:spLocks noGrp="1"/>
          </p:cNvSpPr>
          <p:nvPr>
            <p:ph type="body" sz="quarter" idx="17" hasCustomPrompt="1"/>
          </p:nvPr>
        </p:nvSpPr>
        <p:spPr>
          <a:xfrm>
            <a:off x="451207" y="971007"/>
            <a:ext cx="4021159" cy="74335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2726363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3"/>
          <p:cNvSpPr>
            <a:spLocks noGrp="1"/>
          </p:cNvSpPr>
          <p:nvPr>
            <p:ph sz="quarter" idx="10"/>
          </p:nvPr>
        </p:nvSpPr>
        <p:spPr>
          <a:xfrm>
            <a:off x="3719785" y="1476202"/>
            <a:ext cx="4851065" cy="3096664"/>
          </a:xfrm>
        </p:spPr>
        <p:txBody>
          <a:bodyPr/>
          <a:lstStyle>
            <a:lvl1pPr>
              <a:defRPr lang="es-ES" dirty="0" smtClean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Marcador de texto 5"/>
          <p:cNvSpPr>
            <a:spLocks noGrp="1"/>
          </p:cNvSpPr>
          <p:nvPr>
            <p:ph type="body" sz="quarter" idx="11" hasCustomPrompt="1"/>
          </p:nvPr>
        </p:nvSpPr>
        <p:spPr>
          <a:xfrm>
            <a:off x="442769" y="904598"/>
            <a:ext cx="6425513" cy="571604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Haga clic para modificar el estilo de título del patrón</a:t>
            </a:r>
          </a:p>
        </p:txBody>
      </p:sp>
      <p:sp>
        <p:nvSpPr>
          <p:cNvPr id="8" name="Marcador de texto 7"/>
          <p:cNvSpPr>
            <a:spLocks noGrp="1"/>
          </p:cNvSpPr>
          <p:nvPr>
            <p:ph type="body" sz="quarter" idx="12"/>
          </p:nvPr>
        </p:nvSpPr>
        <p:spPr>
          <a:xfrm>
            <a:off x="442039" y="1476203"/>
            <a:ext cx="3015844" cy="30967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78621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617102" y="3917735"/>
            <a:ext cx="7920880" cy="288032"/>
          </a:xfrm>
        </p:spPr>
        <p:txBody>
          <a:bodyPr anchor="b" anchorCtr="0">
            <a:normAutofit/>
          </a:bodyPr>
          <a:lstStyle>
            <a:lvl1pPr algn="ctr">
              <a:lnSpc>
                <a:spcPts val="2100"/>
              </a:lnSpc>
              <a:defRPr sz="1900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Haga clic para agregar título</a:t>
            </a:r>
            <a:endParaRPr lang="es-MX" dirty="0"/>
          </a:p>
        </p:txBody>
      </p:sp>
      <p:sp>
        <p:nvSpPr>
          <p:cNvPr id="7" name="Marcador de posición de imagen 6"/>
          <p:cNvSpPr>
            <a:spLocks noGrp="1"/>
          </p:cNvSpPr>
          <p:nvPr>
            <p:ph type="pic" sz="quarter" idx="13"/>
          </p:nvPr>
        </p:nvSpPr>
        <p:spPr>
          <a:xfrm>
            <a:off x="1603047" y="932192"/>
            <a:ext cx="5939368" cy="291937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/>
              <a:t>Click icon to add picture</a:t>
            </a:r>
            <a:endParaRPr lang="es-MX" dirty="0"/>
          </a:p>
        </p:txBody>
      </p:sp>
      <p:sp>
        <p:nvSpPr>
          <p:cNvPr id="9" name="Marcador de texto 8"/>
          <p:cNvSpPr>
            <a:spLocks noGrp="1"/>
          </p:cNvSpPr>
          <p:nvPr>
            <p:ph type="body" sz="quarter" idx="14" hasCustomPrompt="1"/>
          </p:nvPr>
        </p:nvSpPr>
        <p:spPr>
          <a:xfrm>
            <a:off x="611560" y="4299942"/>
            <a:ext cx="7920880" cy="277600"/>
          </a:xfrm>
        </p:spPr>
        <p:txBody>
          <a:bodyPr anchor="b" anchorCtr="0">
            <a:noAutofit/>
          </a:bodyPr>
          <a:lstStyle>
            <a:lvl1pPr algn="ctr">
              <a:lnSpc>
                <a:spcPts val="2200"/>
              </a:lnSpc>
              <a:defRPr/>
            </a:lvl1pPr>
          </a:lstStyle>
          <a:p>
            <a:pPr lvl="0"/>
            <a:r>
              <a:rPr lang="es-ES" dirty="0"/>
              <a:t>Haga clic para agregar texto</a:t>
            </a:r>
          </a:p>
        </p:txBody>
      </p:sp>
    </p:spTree>
    <p:extLst>
      <p:ext uri="{BB962C8B-B14F-4D97-AF65-F5344CB8AC3E}">
        <p14:creationId xmlns:p14="http://schemas.microsoft.com/office/powerpoint/2010/main" val="266049489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2" y="685219"/>
            <a:ext cx="8229600" cy="3423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MX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228698" y="1200154"/>
            <a:ext cx="7458104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el estilo de texto del patrón</a:t>
            </a:r>
          </a:p>
        </p:txBody>
      </p:sp>
      <p:cxnSp>
        <p:nvCxnSpPr>
          <p:cNvPr id="6" name="3 Conector recto"/>
          <p:cNvCxnSpPr/>
          <p:nvPr userDrawn="1"/>
        </p:nvCxnSpPr>
        <p:spPr>
          <a:xfrm>
            <a:off x="508238" y="483518"/>
            <a:ext cx="8127527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1 Imagen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0273" y="275506"/>
            <a:ext cx="1664175" cy="1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7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62" r:id="rId2"/>
    <p:sldLayoutId id="2147483661" r:id="rId3"/>
    <p:sldLayoutId id="2147483659" r:id="rId4"/>
    <p:sldLayoutId id="2147483663" r:id="rId5"/>
    <p:sldLayoutId id="2147483658" r:id="rId6"/>
  </p:sldLayoutIdLst>
  <p:txStyles>
    <p:titleStyle>
      <a:lvl1pPr algn="l" defTabSz="298227" rtl="0" eaLnBrk="1" latinLnBrk="0" hangingPunct="1">
        <a:lnSpc>
          <a:spcPts val="2600"/>
        </a:lnSpc>
        <a:spcBef>
          <a:spcPct val="0"/>
        </a:spcBef>
        <a:buNone/>
        <a:defRPr sz="2200" kern="1200">
          <a:solidFill>
            <a:schemeClr val="tx1"/>
          </a:solidFill>
          <a:latin typeface="Gill Sans MT" panose="020B0502020104020203" pitchFamily="34" charset="0"/>
          <a:ea typeface="+mj-ea"/>
          <a:cs typeface="+mj-cs"/>
        </a:defRPr>
      </a:lvl1pPr>
    </p:titleStyle>
    <p:bodyStyle>
      <a:lvl1pPr marL="0" indent="0" algn="l" defTabSz="298227" rtl="0" eaLnBrk="1" latinLnBrk="0" hangingPunct="1">
        <a:lnSpc>
          <a:spcPts val="2300"/>
        </a:lnSpc>
        <a:spcBef>
          <a:spcPct val="20000"/>
        </a:spcBef>
        <a:buFont typeface="Arial" panose="020B0604020202020204" pitchFamily="34" charset="0"/>
        <a:buNone/>
        <a:defRPr sz="1900" kern="1200">
          <a:solidFill>
            <a:schemeClr val="tx1">
              <a:lumMod val="50000"/>
              <a:lumOff val="50000"/>
            </a:schemeClr>
          </a:solidFill>
          <a:latin typeface="Gill Sans MT" panose="020B0502020104020203" pitchFamily="34" charset="0"/>
          <a:ea typeface="+mn-ea"/>
          <a:cs typeface="+mn-cs"/>
        </a:defRPr>
      </a:lvl1pPr>
      <a:lvl2pPr marL="242309" indent="-93196" algn="l" defTabSz="298227" rtl="0" eaLnBrk="1" latinLnBrk="0" hangingPunct="1">
        <a:spcBef>
          <a:spcPct val="20000"/>
        </a:spcBef>
        <a:buFont typeface="Arial" panose="020B0604020202020204" pitchFamily="34" charset="0"/>
        <a:buChar char="–"/>
        <a:defRPr sz="913" kern="1200">
          <a:solidFill>
            <a:schemeClr val="tx1"/>
          </a:solidFill>
          <a:latin typeface="+mn-lt"/>
          <a:ea typeface="+mn-ea"/>
          <a:cs typeface="+mn-cs"/>
        </a:defRPr>
      </a:lvl2pPr>
      <a:lvl3pPr marL="372784" indent="-74557" algn="l" defTabSz="298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783" kern="1200">
          <a:solidFill>
            <a:schemeClr val="tx1"/>
          </a:solidFill>
          <a:latin typeface="+mn-lt"/>
          <a:ea typeface="+mn-ea"/>
          <a:cs typeface="+mn-cs"/>
        </a:defRPr>
      </a:lvl3pPr>
      <a:lvl4pPr marL="521899" indent="-74557" algn="l" defTabSz="298227" rtl="0" eaLnBrk="1" latinLnBrk="0" hangingPunct="1">
        <a:spcBef>
          <a:spcPct val="20000"/>
        </a:spcBef>
        <a:buFont typeface="Arial" panose="020B0604020202020204" pitchFamily="34" charset="0"/>
        <a:buChar char="–"/>
        <a:defRPr sz="652" kern="1200">
          <a:solidFill>
            <a:schemeClr val="tx1"/>
          </a:solidFill>
          <a:latin typeface="+mn-lt"/>
          <a:ea typeface="+mn-ea"/>
          <a:cs typeface="+mn-cs"/>
        </a:defRPr>
      </a:lvl4pPr>
      <a:lvl5pPr marL="671011" indent="-74557" algn="l" defTabSz="298227" rtl="0" eaLnBrk="1" latinLnBrk="0" hangingPunct="1">
        <a:spcBef>
          <a:spcPct val="20000"/>
        </a:spcBef>
        <a:buFont typeface="Arial" panose="020B0604020202020204" pitchFamily="34" charset="0"/>
        <a:buChar char="»"/>
        <a:defRPr sz="652" kern="1200">
          <a:solidFill>
            <a:schemeClr val="tx1"/>
          </a:solidFill>
          <a:latin typeface="+mn-lt"/>
          <a:ea typeface="+mn-ea"/>
          <a:cs typeface="+mn-cs"/>
        </a:defRPr>
      </a:lvl5pPr>
      <a:lvl6pPr marL="820124" indent="-74557" algn="l" defTabSz="298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652" kern="1200">
          <a:solidFill>
            <a:schemeClr val="tx1"/>
          </a:solidFill>
          <a:latin typeface="+mn-lt"/>
          <a:ea typeface="+mn-ea"/>
          <a:cs typeface="+mn-cs"/>
        </a:defRPr>
      </a:lvl6pPr>
      <a:lvl7pPr marL="969238" indent="-74557" algn="l" defTabSz="298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652" kern="1200">
          <a:solidFill>
            <a:schemeClr val="tx1"/>
          </a:solidFill>
          <a:latin typeface="+mn-lt"/>
          <a:ea typeface="+mn-ea"/>
          <a:cs typeface="+mn-cs"/>
        </a:defRPr>
      </a:lvl7pPr>
      <a:lvl8pPr marL="1118351" indent="-74557" algn="l" defTabSz="298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652" kern="1200">
          <a:solidFill>
            <a:schemeClr val="tx1"/>
          </a:solidFill>
          <a:latin typeface="+mn-lt"/>
          <a:ea typeface="+mn-ea"/>
          <a:cs typeface="+mn-cs"/>
        </a:defRPr>
      </a:lvl8pPr>
      <a:lvl9pPr marL="1267464" indent="-74557" algn="l" defTabSz="298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65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298227" rtl="0" eaLnBrk="1" latinLnBrk="0" hangingPunct="1">
        <a:defRPr sz="587" kern="1200">
          <a:solidFill>
            <a:schemeClr val="tx1"/>
          </a:solidFill>
          <a:latin typeface="+mn-lt"/>
          <a:ea typeface="+mn-ea"/>
          <a:cs typeface="+mn-cs"/>
        </a:defRPr>
      </a:lvl1pPr>
      <a:lvl2pPr marL="149113" algn="l" defTabSz="298227" rtl="0" eaLnBrk="1" latinLnBrk="0" hangingPunct="1">
        <a:defRPr sz="587" kern="1200">
          <a:solidFill>
            <a:schemeClr val="tx1"/>
          </a:solidFill>
          <a:latin typeface="+mn-lt"/>
          <a:ea typeface="+mn-ea"/>
          <a:cs typeface="+mn-cs"/>
        </a:defRPr>
      </a:lvl2pPr>
      <a:lvl3pPr marL="298227" algn="l" defTabSz="298227" rtl="0" eaLnBrk="1" latinLnBrk="0" hangingPunct="1">
        <a:defRPr sz="587" kern="1200">
          <a:solidFill>
            <a:schemeClr val="tx1"/>
          </a:solidFill>
          <a:latin typeface="+mn-lt"/>
          <a:ea typeface="+mn-ea"/>
          <a:cs typeface="+mn-cs"/>
        </a:defRPr>
      </a:lvl3pPr>
      <a:lvl4pPr marL="447341" algn="l" defTabSz="298227" rtl="0" eaLnBrk="1" latinLnBrk="0" hangingPunct="1">
        <a:defRPr sz="587" kern="1200">
          <a:solidFill>
            <a:schemeClr val="tx1"/>
          </a:solidFill>
          <a:latin typeface="+mn-lt"/>
          <a:ea typeface="+mn-ea"/>
          <a:cs typeface="+mn-cs"/>
        </a:defRPr>
      </a:lvl4pPr>
      <a:lvl5pPr marL="596453" algn="l" defTabSz="298227" rtl="0" eaLnBrk="1" latinLnBrk="0" hangingPunct="1">
        <a:defRPr sz="587" kern="1200">
          <a:solidFill>
            <a:schemeClr val="tx1"/>
          </a:solidFill>
          <a:latin typeface="+mn-lt"/>
          <a:ea typeface="+mn-ea"/>
          <a:cs typeface="+mn-cs"/>
        </a:defRPr>
      </a:lvl5pPr>
      <a:lvl6pPr marL="745567" algn="l" defTabSz="298227" rtl="0" eaLnBrk="1" latinLnBrk="0" hangingPunct="1">
        <a:defRPr sz="587" kern="1200">
          <a:solidFill>
            <a:schemeClr val="tx1"/>
          </a:solidFill>
          <a:latin typeface="+mn-lt"/>
          <a:ea typeface="+mn-ea"/>
          <a:cs typeface="+mn-cs"/>
        </a:defRPr>
      </a:lvl6pPr>
      <a:lvl7pPr marL="894681" algn="l" defTabSz="298227" rtl="0" eaLnBrk="1" latinLnBrk="0" hangingPunct="1">
        <a:defRPr sz="587" kern="1200">
          <a:solidFill>
            <a:schemeClr val="tx1"/>
          </a:solidFill>
          <a:latin typeface="+mn-lt"/>
          <a:ea typeface="+mn-ea"/>
          <a:cs typeface="+mn-cs"/>
        </a:defRPr>
      </a:lvl7pPr>
      <a:lvl8pPr marL="1043795" algn="l" defTabSz="298227" rtl="0" eaLnBrk="1" latinLnBrk="0" hangingPunct="1">
        <a:defRPr sz="587" kern="1200">
          <a:solidFill>
            <a:schemeClr val="tx1"/>
          </a:solidFill>
          <a:latin typeface="+mn-lt"/>
          <a:ea typeface="+mn-ea"/>
          <a:cs typeface="+mn-cs"/>
        </a:defRPr>
      </a:lvl8pPr>
      <a:lvl9pPr marL="1192908" algn="l" defTabSz="298227" rtl="0" eaLnBrk="1" latinLnBrk="0" hangingPunct="1">
        <a:defRPr sz="58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Universidad Veracruzana</a:t>
            </a:r>
            <a:r>
              <a:rPr lang="es-ES" dirty="0"/>
              <a:t> </a:t>
            </a:r>
            <a:br>
              <a:rPr lang="es-ES" dirty="0"/>
            </a:br>
            <a:r>
              <a:rPr lang="es-ES" b="1" dirty="0"/>
              <a:t>Facultad de Ingeniería en Electrónica y Comunicaciones</a:t>
            </a:r>
            <a:r>
              <a:rPr lang="es-ES" dirty="0"/>
              <a:t> </a:t>
            </a:r>
            <a:br>
              <a:rPr lang="es-ES" dirty="0"/>
            </a:br>
            <a:endParaRPr lang="es-MX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MX" dirty="0" err="1"/>
              <a:t>Regi</a:t>
            </a:r>
            <a:r>
              <a:rPr lang="en-US" dirty="0" err="1"/>
              <a:t>ón</a:t>
            </a:r>
            <a:r>
              <a:rPr lang="en-US" dirty="0"/>
              <a:t> Poza Rica——</a:t>
            </a:r>
            <a:r>
              <a:rPr lang="en-US" dirty="0" err="1"/>
              <a:t>Tuxpan</a:t>
            </a:r>
            <a:endParaRPr lang="es-MX" dirty="0"/>
          </a:p>
        </p:txBody>
      </p:sp>
      <p:sp>
        <p:nvSpPr>
          <p:cNvPr id="5" name="CuadroTexto 4"/>
          <p:cNvSpPr txBox="1"/>
          <p:nvPr/>
        </p:nvSpPr>
        <p:spPr>
          <a:xfrm>
            <a:off x="3816528" y="2198292"/>
            <a:ext cx="4190890" cy="2033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00" b="0">
                <a:latin typeface="Gill Sans MT"/>
              </a:rPr>
              <a:t>Microprocesadores y Microcontroladores</a:t>
            </a:r>
          </a:p>
          <a:p>
            <a:pPr algn="r">
              <a:lnSpc>
                <a:spcPct val="105000"/>
              </a:lnSpc>
              <a:spcAft>
                <a:spcPts val="0"/>
              </a:spcAft>
            </a:pPr>
          </a:p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200" b="1">
                <a:latin typeface="Gill Sans MT"/>
              </a:rPr>
              <a:t>Emulador del procesador MIPS en lenguaje Java</a:t>
            </a:r>
          </a:p>
          <a:p>
            <a:pPr algn="r">
              <a:lnSpc>
                <a:spcPct val="105000"/>
              </a:lnSpc>
              <a:spcAft>
                <a:spcPts val="0"/>
              </a:spcAft>
            </a:pPr>
          </a:p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00" b="0">
                <a:latin typeface="Gill Sans MT"/>
              </a:rPr>
              <a:t>Presenta:</a:t>
            </a:r>
          </a:p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00" b="1">
                <a:latin typeface="Gill Sans MT"/>
              </a:rPr>
              <a:t>Soto Hernandez Yadid Asiel (zS24006887)</a:t>
            </a:r>
          </a:p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00" b="1">
                <a:latin typeface="Gill Sans MT"/>
              </a:rPr>
              <a:t>Berman Islas Jose de Jesus (zS24006897)</a:t>
            </a:r>
          </a:p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00" b="1">
                <a:latin typeface="Gill Sans MT"/>
              </a:rPr>
              <a:t>Damian Bumas Miguel Alejandro (zS24021396)</a:t>
            </a:r>
          </a:p>
          <a:p>
            <a:pPr algn="r">
              <a:lnSpc>
                <a:spcPct val="105000"/>
              </a:lnSpc>
              <a:spcAft>
                <a:spcPts val="0"/>
              </a:spcAft>
            </a:pPr>
          </a:p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00" b="0">
                <a:latin typeface="Gill Sans MT"/>
              </a:rPr>
              <a:t>23 de Octubre de 2026</a:t>
            </a:r>
          </a:p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00" b="0">
                <a:latin typeface="Gill Sans MT"/>
              </a:rPr>
              <a:t>“Lis de Veracruz: Arte, Ciencia, Luz”</a:t>
            </a:r>
          </a:p>
        </p:txBody>
      </p:sp>
    </p:spTree>
    <p:extLst>
      <p:ext uri="{BB962C8B-B14F-4D97-AF65-F5344CB8AC3E}">
        <p14:creationId xmlns:p14="http://schemas.microsoft.com/office/powerpoint/2010/main" val="4101506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4B710-BDD2-41D9-A0F6-BBE17124A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Contenido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F5734C3-2BC7-4BEF-8093-C67D605B5129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1228954" y="1188720"/>
            <a:ext cx="7456932" cy="33951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00050" marR="0" lvl="0" indent="-4000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s-MX" altLang="en-US" sz="1800" i="0" u="none" strike="noStrike" cap="none" normalizeH="0" baseline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Arial" panose="020B0604020202020204" pitchFamily="34" charset="0"/>
              </a:rPr>
              <a:t>Razones tecnicas para elegir el procesador</a:t>
            </a:r>
          </a:p>
          <a:p>
            <a:pPr marL="400050" marR="0" lvl="0" indent="-4000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s-MX" altLang="en-US" sz="1800" i="0" u="none" strike="noStrike" cap="none" normalizeH="0" baseline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Arial" panose="020B0604020202020204" pitchFamily="34" charset="0"/>
              </a:rPr>
              <a:t>Arquitectura: PC, ROM, RAM y registros</a:t>
            </a:r>
          </a:p>
          <a:p>
            <a:pPr marL="400050" marR="0" lvl="0" indent="-4000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s-MX" altLang="en-US" sz="1800" i="0" u="none" strike="noStrike" cap="none" normalizeH="0" baseline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Arial" panose="020B0604020202020204" pitchFamily="34" charset="0"/>
              </a:rPr>
              <a:t>ISA del procesador y pruebas tecnicas</a:t>
            </a:r>
          </a:p>
          <a:p>
            <a:pPr marL="400050" marR="0" lvl="0" indent="-4000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s-MX" altLang="en-US" sz="1800" i="0" u="none" strike="noStrike" cap="none" normalizeH="0" baseline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Arial" panose="020B0604020202020204" pitchFamily="34" charset="0"/>
              </a:rPr>
              <a:t>Codigos implementados y ejecutados</a:t>
            </a:r>
          </a:p>
        </p:txBody>
      </p:sp>
    </p:spTree>
    <p:extLst>
      <p:ext uri="{BB962C8B-B14F-4D97-AF65-F5344CB8AC3E}">
        <p14:creationId xmlns:p14="http://schemas.microsoft.com/office/powerpoint/2010/main" val="28215133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ctr"/>
            <a:r>
              <a:rPr sz="2600" b="1" i="0">
                <a:solidFill>
                  <a:srgbClr val="1F497D"/>
                </a:solidFill>
                <a:latin typeface="Gill Sans MT"/>
              </a:rPr>
              <a:t>Razones tecnicas para elegir el procesador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ctr" marL="237744" indent="-237744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4F81BD"/>
                </a:solidFill>
              </a:rPr>
              <a:t>Por que MIPS  ·  por que un emulador          min. 1 –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66160" y="960120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DCE6F1"/>
                </a:solidFill>
              </a:rPr>
              <a:t>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400" b="1" i="0">
                <a:solidFill>
                  <a:srgbClr val="1F497D"/>
                </a:solidFill>
                <a:latin typeface="Gill Sans MT"/>
              </a:rPr>
              <a:t>¿Que construimos?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l" marL="237744" indent="-237744">
              <a:lnSpc>
                <a:spcPct val="115000"/>
              </a:lnSpc>
              <a:spcAft>
                <a:spcPts val="1300"/>
              </a:spcAft>
            </a:pPr>
            <a:r>
              <a:rPr sz="1700" b="0" i="0">
                <a:solidFill>
                  <a:srgbClr val="404040"/>
                </a:solidFill>
              </a:rPr>
              <a:t>•Emulador de un </a:t>
            </a:r>
            <a:r>
              <a:rPr sz="1700" b="1" i="0">
                <a:solidFill>
                  <a:srgbClr val="404040"/>
                </a:solidFill>
              </a:rPr>
              <a:t>procesador MIPS</a:t>
            </a:r>
            <a:r>
              <a:rPr sz="1700" b="0" i="0">
                <a:solidFill>
                  <a:srgbClr val="404040"/>
                </a:solidFill>
              </a:rPr>
              <a:t> de 32 bits, escrito en </a:t>
            </a:r>
            <a:r>
              <a:rPr sz="1700" b="1" i="0">
                <a:solidFill>
                  <a:srgbClr val="404040"/>
                </a:solidFill>
              </a:rPr>
              <a:t>Java</a:t>
            </a:r>
          </a:p>
          <a:p>
            <a:pPr algn="l" marL="237744" indent="-237744">
              <a:lnSpc>
                <a:spcPct val="115000"/>
              </a:lnSpc>
              <a:spcAft>
                <a:spcPts val="1300"/>
              </a:spcAft>
            </a:pPr>
            <a:r>
              <a:rPr sz="1700" b="0" i="0">
                <a:solidFill>
                  <a:srgbClr val="404040"/>
                </a:solidFill>
              </a:rPr>
              <a:t>•Sin librerias externas: </a:t>
            </a:r>
            <a:r>
              <a:rPr sz="1700" b="1" i="0">
                <a:solidFill>
                  <a:srgbClr val="404040"/>
                </a:solidFill>
              </a:rPr>
              <a:t>36 clases</a:t>
            </a:r>
            <a:r>
              <a:rPr sz="1700" b="0" i="0">
                <a:solidFill>
                  <a:srgbClr val="404040"/>
                </a:solidFill>
              </a:rPr>
              <a:t>, 22 de ellas en el nucleo</a:t>
            </a:r>
          </a:p>
          <a:p>
            <a:pPr algn="l" marL="237744" indent="-237744">
              <a:lnSpc>
                <a:spcPct val="115000"/>
              </a:lnSpc>
              <a:spcAft>
                <a:spcPts val="1300"/>
              </a:spcAft>
            </a:pPr>
            <a:r>
              <a:rPr sz="1700" b="0" i="0">
                <a:solidFill>
                  <a:srgbClr val="404040"/>
                </a:solidFill>
              </a:rPr>
              <a:t>•5 paquetes: cpu · ejecucion · memoria · alu · instruccion</a:t>
            </a:r>
          </a:p>
          <a:p>
            <a:pPr algn="l" marL="237744" indent="-237744">
              <a:lnSpc>
                <a:spcPct val="115000"/>
              </a:lnSpc>
              <a:spcAft>
                <a:spcPts val="1300"/>
              </a:spcAft>
            </a:pPr>
            <a:r>
              <a:rPr sz="1700" b="0" i="0">
                <a:solidFill>
                  <a:srgbClr val="404040"/>
                </a:solidFill>
              </a:rPr>
              <a:t>•Ciclo completo de </a:t>
            </a:r>
            <a:r>
              <a:rPr sz="1700" b="1" i="0">
                <a:solidFill>
                  <a:srgbClr val="404040"/>
                </a:solidFill>
              </a:rPr>
              <a:t>5 etapas</a:t>
            </a:r>
            <a:r>
              <a:rPr sz="1700" b="0" i="0">
                <a:solidFill>
                  <a:srgbClr val="404040"/>
                </a:solidFill>
              </a:rPr>
              <a:t>: IF -&gt; ID -&gt; EX -&gt; MEM -&gt; WB</a:t>
            </a:r>
          </a:p>
          <a:p>
            <a:pPr algn="l" marL="237744" indent="-237744">
              <a:lnSpc>
                <a:spcPct val="115000"/>
              </a:lnSpc>
              <a:spcAft>
                <a:spcPts val="1300"/>
              </a:spcAft>
            </a:pPr>
            <a:r>
              <a:rPr sz="1700" b="0" i="0">
                <a:solidFill>
                  <a:srgbClr val="404040"/>
                </a:solidFill>
              </a:rPr>
              <a:t>•</a:t>
            </a:r>
            <a:r>
              <a:rPr sz="1700" b="1" i="0">
                <a:solidFill>
                  <a:srgbClr val="404040"/>
                </a:solidFill>
              </a:rPr>
              <a:t>5 programas</a:t>
            </a:r>
            <a:r>
              <a:rPr sz="1700" b="0" i="0">
                <a:solidFill>
                  <a:srgbClr val="404040"/>
                </a:solidFill>
              </a:rPr>
              <a:t> de usuario y </a:t>
            </a:r>
            <a:r>
              <a:rPr sz="1700" b="1" i="0">
                <a:solidFill>
                  <a:srgbClr val="404040"/>
                </a:solidFill>
              </a:rPr>
              <a:t>201 pruebas</a:t>
            </a:r>
            <a:r>
              <a:rPr sz="1700" b="0" i="0">
                <a:solidFill>
                  <a:srgbClr val="404040"/>
                </a:solidFill>
              </a:rPr>
              <a:t> automaticas</a:t>
            </a:r>
          </a:p>
          <a:p>
            <a:pPr algn="l" marL="237744" indent="-237744">
              <a:lnSpc>
                <a:spcPct val="115000"/>
              </a:lnSpc>
              <a:spcAft>
                <a:spcPts val="1300"/>
              </a:spcAft>
            </a:pPr>
            <a:r>
              <a:rPr sz="1700" b="0" i="0">
                <a:solidFill>
                  <a:srgbClr val="404040"/>
                </a:solidFill>
              </a:rPr>
              <a:t>•Objetivo: ver por dentro lo que normalmente es una caja negra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 marL="237744" indent="-237744">
              <a:lnSpc>
                <a:spcPct val="115000"/>
              </a:lnSpc>
              <a:spcAft>
                <a:spcPts val="900"/>
              </a:spcAft>
            </a:pPr>
            <a:r>
              <a:rPr sz="1400" b="0" i="0">
                <a:solidFill>
                  <a:srgbClr val="404040"/>
                </a:solidFill>
              </a:rPr>
              <a:t>•Millones de transistores</a:t>
            </a:r>
          </a:p>
          <a:p>
            <a:pPr algn="l" marL="237744" indent="-237744">
              <a:lnSpc>
                <a:spcPct val="115000"/>
              </a:lnSpc>
              <a:spcAft>
                <a:spcPts val="900"/>
              </a:spcAft>
            </a:pPr>
            <a:r>
              <a:rPr sz="1400" b="0" i="0">
                <a:solidFill>
                  <a:srgbClr val="404040"/>
                </a:solidFill>
              </a:rPr>
              <a:t>•Diseno propiedad industrial y secreto</a:t>
            </a:r>
          </a:p>
          <a:p>
            <a:pPr algn="l" marL="237744" indent="-237744">
              <a:lnSpc>
                <a:spcPct val="115000"/>
              </a:lnSpc>
              <a:spcAft>
                <a:spcPts val="900"/>
              </a:spcAft>
            </a:pPr>
            <a:r>
              <a:rPr sz="1400" b="0" i="0">
                <a:solidFill>
                  <a:srgbClr val="404040"/>
                </a:solidFill>
              </a:rPr>
              <a:t>•Un error cuesta </a:t>
            </a:r>
            <a:r>
              <a:rPr sz="1400" b="1" i="0">
                <a:solidFill>
                  <a:srgbClr val="404040"/>
                </a:solidFill>
              </a:rPr>
              <a:t>silicio</a:t>
            </a:r>
            <a:r>
              <a:rPr sz="1400" b="0" i="0">
                <a:solidFill>
                  <a:srgbClr val="404040"/>
                </a:solidFill>
              </a:rPr>
              <a:t> perdido</a:t>
            </a:r>
          </a:p>
          <a:p>
            <a:pPr algn="l" marL="237744" indent="-237744">
              <a:lnSpc>
                <a:spcPct val="115000"/>
              </a:lnSpc>
              <a:spcAft>
                <a:spcPts val="900"/>
              </a:spcAft>
            </a:pPr>
            <a:r>
              <a:rPr sz="1400" b="0" i="0">
                <a:solidFill>
                  <a:srgbClr val="404040"/>
                </a:solidFill>
              </a:rPr>
              <a:t>•No se puede mirar su interior</a:t>
            </a:r>
          </a:p>
          <a:p>
            <a:pPr algn="l" marL="237744" indent="-237744">
              <a:lnSpc>
                <a:spcPct val="115000"/>
              </a:lnSpc>
              <a:spcAft>
                <a:spcPts val="900"/>
              </a:spcAft>
            </a:pPr>
            <a:r>
              <a:rPr sz="1400" b="0" i="0">
                <a:solidFill>
                  <a:srgbClr val="404040"/>
                </a:solidFill>
              </a:rPr>
              <a:t>•Costo y equipo fuera de alcance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5" sz="quarter"/>
          </p:nvPr>
        </p:nvSpPr>
        <p:spPr/>
        <p:txBody>
          <a:bodyPr wrap="square"/>
          <a:lstStyle/>
          <a:p>
            <a:pPr algn="l" marL="237744" indent="-237744">
              <a:lnSpc>
                <a:spcPct val="115000"/>
              </a:lnSpc>
              <a:spcAft>
                <a:spcPts val="900"/>
              </a:spcAft>
            </a:pPr>
            <a:r>
              <a:rPr sz="1400" b="0" i="0">
                <a:solidFill>
                  <a:srgbClr val="404040"/>
                </a:solidFill>
              </a:rPr>
              <a:t>•Se construye entero en software</a:t>
            </a:r>
          </a:p>
          <a:p>
            <a:pPr algn="l" marL="237744" indent="-237744">
              <a:lnSpc>
                <a:spcPct val="115000"/>
              </a:lnSpc>
              <a:spcAft>
                <a:spcPts val="900"/>
              </a:spcAft>
            </a:pPr>
            <a:r>
              <a:rPr sz="1400" b="0" i="0">
                <a:solidFill>
                  <a:srgbClr val="404040"/>
                </a:solidFill>
              </a:rPr>
              <a:t>•Registros, memoria y senales </a:t>
            </a:r>
            <a:r>
              <a:rPr sz="1400" b="1" i="0">
                <a:solidFill>
                  <a:srgbClr val="404040"/>
                </a:solidFill>
              </a:rPr>
              <a:t>a la vista</a:t>
            </a:r>
          </a:p>
          <a:p>
            <a:pPr algn="l" marL="237744" indent="-237744">
              <a:lnSpc>
                <a:spcPct val="115000"/>
              </a:lnSpc>
              <a:spcAft>
                <a:spcPts val="900"/>
              </a:spcAft>
            </a:pPr>
            <a:r>
              <a:rPr sz="1400" b="0" i="0">
                <a:solidFill>
                  <a:srgbClr val="404040"/>
                </a:solidFill>
              </a:rPr>
              <a:t>•Un error es una </a:t>
            </a:r>
            <a:r>
              <a:rPr sz="1400" b="1" i="0">
                <a:solidFill>
                  <a:srgbClr val="404040"/>
                </a:solidFill>
              </a:rPr>
              <a:t>prueba fallida</a:t>
            </a:r>
            <a:r>
              <a:rPr sz="1400" b="0" i="0">
                <a:solidFill>
                  <a:srgbClr val="404040"/>
                </a:solidFill>
              </a:rPr>
              <a:t> que se corrige</a:t>
            </a:r>
          </a:p>
          <a:p>
            <a:pPr algn="l" marL="237744" indent="-237744">
              <a:lnSpc>
                <a:spcPct val="115000"/>
              </a:lnSpc>
              <a:spcAft>
                <a:spcPts val="900"/>
              </a:spcAft>
            </a:pPr>
            <a:r>
              <a:rPr sz="1400" b="0" i="0">
                <a:solidFill>
                  <a:srgbClr val="404040"/>
                </a:solidFill>
              </a:rPr>
              <a:t>•Se observa el ciclo </a:t>
            </a:r>
            <a:r>
              <a:rPr sz="1400" b="1" i="0">
                <a:solidFill>
                  <a:srgbClr val="404040"/>
                </a:solidFill>
              </a:rPr>
              <a:t>instruccion por instruccion</a:t>
            </a:r>
          </a:p>
          <a:p>
            <a:pPr algn="l" marL="237744" indent="-237744">
              <a:lnSpc>
                <a:spcPct val="115000"/>
              </a:lnSpc>
              <a:spcAft>
                <a:spcPts val="900"/>
              </a:spcAft>
            </a:pPr>
            <a:r>
              <a:rPr sz="1400" b="0" i="0">
                <a:solidFill>
                  <a:srgbClr val="404040"/>
                </a:solidFill>
              </a:rPr>
              <a:t>•Mismos conceptos que el hardware real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 wrap="square"/>
          <a:lstStyle/>
          <a:p>
            <a:pPr algn="l"/>
            <a:r>
              <a:rPr sz="1900" b="1" i="0">
                <a:solidFill>
                  <a:srgbClr val="2E7D32"/>
                </a:solidFill>
                <a:latin typeface="Gill Sans MT"/>
              </a:rPr>
              <a:t>Emulador (el nuestro)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 wrap="square"/>
          <a:lstStyle/>
          <a:p>
            <a:pPr algn="l"/>
            <a:r>
              <a:rPr sz="1900" b="1" i="0">
                <a:solidFill>
                  <a:srgbClr val="C0504D"/>
                </a:solidFill>
                <a:latin typeface="Gill Sans MT"/>
              </a:rPr>
              <a:t>Procesador real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400" b="1" i="0">
                <a:solidFill>
                  <a:srgbClr val="1F497D"/>
                </a:solidFill>
                <a:latin typeface="Gill Sans MT"/>
              </a:rPr>
              <a:t>MIPS frente a las alternativas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188720"/>
          <a:ext cx="813816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1965960"/>
                <a:gridCol w="1965960"/>
              </a:tblGrid>
              <a:tr h="4191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</a:rPr>
                        <a:t>Criterio</a:t>
                      </a:r>
                    </a:p>
                  </a:txBody>
                  <a:tcPr marL="64008" marR="54864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</a:rPr>
                        <a:t>MIPS (elegido)</a:t>
                      </a:r>
                    </a:p>
                  </a:txBody>
                  <a:tcPr marL="64008" marR="54864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</a:rPr>
                        <a:t>RISC-V</a:t>
                      </a:r>
                    </a:p>
                  </a:txBody>
                  <a:tcPr marL="64008" marR="54864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</a:rPr>
                        <a:t>x86</a:t>
                      </a:r>
                    </a:p>
                  </a:txBody>
                  <a:tcPr marL="64008" marR="54864" marT="27432" marB="27432" anchor="ctr">
                    <a:solidFill>
                      <a:srgbClr val="1F497D"/>
                    </a:solidFill>
                  </a:tcPr>
                </a:tc>
              </a:tr>
              <a:tr h="4191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404040"/>
                          </a:solidFill>
                        </a:rPr>
                        <a:t>Familia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404040"/>
                          </a:solidFill>
                        </a:rPr>
                        <a:t>RISC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404040"/>
                          </a:solidFill>
                        </a:rPr>
                        <a:t>RISC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404040"/>
                          </a:solidFill>
                        </a:rPr>
                        <a:t>CISC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404040"/>
                          </a:solidFill>
                        </a:rPr>
                        <a:t>Tamano de instruccion</a:t>
                      </a:r>
                    </a:p>
                  </a:txBody>
                  <a:tcPr marL="64008" marR="54864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404040"/>
                          </a:solidFill>
                        </a:rPr>
                        <a:t>32 bits, longitud fija</a:t>
                      </a:r>
                    </a:p>
                  </a:txBody>
                  <a:tcPr marL="64008" marR="54864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404040"/>
                          </a:solidFill>
                        </a:rPr>
                        <a:t>32 bits, longitud fija</a:t>
                      </a:r>
                    </a:p>
                  </a:txBody>
                  <a:tcPr marL="64008" marR="54864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404040"/>
                          </a:solidFill>
                        </a:rPr>
                        <a:t>1 a 15 bytes, variable</a:t>
                      </a:r>
                    </a:p>
                  </a:txBody>
                  <a:tcPr marL="64008" marR="54864" marT="27432" marB="27432" anchor="ctr">
                    <a:solidFill>
                      <a:srgbClr val="F3F6FA"/>
                    </a:solidFill>
                  </a:tcPr>
                </a:tc>
              </a:tr>
              <a:tr h="4191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404040"/>
                          </a:solidFill>
                        </a:rPr>
                        <a:t>Formatos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404040"/>
                          </a:solidFill>
                        </a:rPr>
                        <a:t>3: R, I y J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404040"/>
                          </a:solidFill>
                        </a:rPr>
                        <a:t>6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404040"/>
                          </a:solidFill>
                        </a:rPr>
                        <a:t>decenas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404040"/>
                          </a:solidFill>
                        </a:rPr>
                        <a:t>Especificacion</a:t>
                      </a:r>
                    </a:p>
                  </a:txBody>
                  <a:tcPr marL="64008" marR="54864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404040"/>
                          </a:solidFill>
                        </a:rPr>
                        <a:t>publica y documentacion clara</a:t>
                      </a:r>
                    </a:p>
                  </a:txBody>
                  <a:tcPr marL="64008" marR="54864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404040"/>
                          </a:solidFill>
                        </a:rPr>
                        <a:t>abierta y modular</a:t>
                      </a:r>
                    </a:p>
                  </a:txBody>
                  <a:tcPr marL="64008" marR="54864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404040"/>
                          </a:solidFill>
                        </a:rPr>
                        <a:t>propietaria</a:t>
                      </a:r>
                    </a:p>
                  </a:txBody>
                  <a:tcPr marL="64008" marR="54864" marT="27432" marB="27432" anchor="ctr">
                    <a:solidFill>
                      <a:srgbClr val="F3F6FA"/>
                    </a:solidFill>
                  </a:tcPr>
                </a:tc>
              </a:tr>
              <a:tr h="4191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404040"/>
                          </a:solidFill>
                        </a:rPr>
                        <a:t>¿Se implementa en un curso?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404040"/>
                          </a:solidFill>
                        </a:rPr>
                        <a:t>si, decodificador simple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404040"/>
                          </a:solidFill>
                        </a:rPr>
                        <a:t>si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404040"/>
                          </a:solidFill>
                        </a:rPr>
                        <a:t>no es practico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4041648"/>
            <a:ext cx="8138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4F81BD"/>
                </a:solidFill>
              </a:rPr>
              <a:t>Tambien valia RISC-V; MIPS gano por su documentacion didactica. x86 (longitud variable + microcodigo) estaba fuera de alcance.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400" b="1" i="0">
                <a:solidFill>
                  <a:srgbClr val="1F497D"/>
                </a:solidFill>
                <a:latin typeface="Gill Sans MT"/>
              </a:rPr>
              <a:t>Tres razones tecnicas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l" marL="237744" indent="-237744">
              <a:lnSpc>
                <a:spcPct val="115000"/>
              </a:lnSpc>
              <a:spcAft>
                <a:spcPts val="1200"/>
              </a:spcAft>
            </a:pPr>
            <a:r>
              <a:rPr sz="1600" b="0" i="0">
                <a:solidFill>
                  <a:srgbClr val="404040"/>
                </a:solidFill>
              </a:rPr>
              <a:t>•</a:t>
            </a:r>
            <a:r>
              <a:rPr sz="1600" b="1" i="0">
                <a:solidFill>
                  <a:srgbClr val="404040"/>
                </a:solidFill>
              </a:rPr>
              <a:t>1. Es RISC</a:t>
            </a:r>
            <a:r>
              <a:rPr sz="1600" b="0" i="0">
                <a:solidFill>
                  <a:srgbClr val="404040"/>
                </a:solidFill>
              </a:rPr>
              <a:t>  -&gt;  conjunto reducido, todas las instrucciones miden 32 bits</a:t>
            </a:r>
          </a:p>
          <a:p>
            <a:pPr algn="l" marL="237744" indent="-237744">
              <a:lnSpc>
                <a:spcPct val="115000"/>
              </a:lnSpc>
              <a:spcAft>
                <a:spcPts val="1200"/>
              </a:spcAft>
            </a:pPr>
            <a:r>
              <a:rPr sz="1600" b="0" i="0">
                <a:solidFill>
                  <a:srgbClr val="404040"/>
                </a:solidFill>
              </a:rPr>
              <a:t>•</a:t>
            </a:r>
            <a:r>
              <a:rPr sz="1600" b="1" i="0">
                <a:solidFill>
                  <a:srgbClr val="404040"/>
                </a:solidFill>
              </a:rPr>
              <a:t>2. Tres formatos fijos (R, I, J)</a:t>
            </a:r>
            <a:r>
              <a:rPr sz="1600" b="0" i="0">
                <a:solidFill>
                  <a:srgbClr val="404040"/>
                </a:solidFill>
              </a:rPr>
              <a:t>  -&gt;  decodificar = máscaras + desplazamientos</a:t>
            </a:r>
          </a:p>
          <a:p>
            <a:pPr algn="l" marL="237744" indent="-237744">
              <a:lnSpc>
                <a:spcPct val="115000"/>
              </a:lnSpc>
              <a:spcAft>
                <a:spcPts val="1200"/>
              </a:spcAft>
            </a:pPr>
            <a:r>
              <a:rPr sz="1600" b="0" i="0">
                <a:solidFill>
                  <a:srgbClr val="404040"/>
                </a:solidFill>
              </a:rPr>
              <a:t>•</a:t>
            </a:r>
            <a:r>
              <a:rPr sz="1600" b="1" i="0">
                <a:solidFill>
                  <a:srgbClr val="404040"/>
                </a:solidFill>
              </a:rPr>
              <a:t>3. Documentacion abierta y didactica</a:t>
            </a:r>
            <a:r>
              <a:rPr sz="1600" b="0" i="0">
                <a:solidFill>
                  <a:srgbClr val="404040"/>
                </a:solidFill>
              </a:rPr>
              <a:t>  -&gt;  mismos conceptos que en cualquier CPU</a:t>
            </a:r>
          </a:p>
          <a:p>
            <a:pPr algn="l" marL="237744" indent="-237744">
              <a:lnSpc>
                <a:spcPct val="115000"/>
              </a:lnSpc>
              <a:spcAft>
                <a:spcPts val="1200"/>
              </a:spcAft>
            </a:pPr>
          </a:p>
          <a:p>
            <a:pPr algn="l" marL="237744" indent="-237744">
              <a:lnSpc>
                <a:spcPct val="115000"/>
              </a:lnSpc>
              <a:spcAft>
                <a:spcPts val="1200"/>
              </a:spcAft>
            </a:pPr>
            <a:r>
              <a:rPr sz="1600" b="0" i="0">
                <a:solidFill>
                  <a:srgbClr val="404040"/>
                </a:solidFill>
              </a:rPr>
              <a:t>•</a:t>
            </a:r>
            <a:r>
              <a:rPr sz="1600" b="1" i="0">
                <a:solidFill>
                  <a:srgbClr val="404040"/>
                </a:solidFill>
              </a:rPr>
              <a:t>Contra x86:</a:t>
            </a:r>
            <a:r>
              <a:rPr sz="1600" b="0" i="0">
                <a:solidFill>
                  <a:srgbClr val="404040"/>
                </a:solidFill>
              </a:rPr>
              <a:t> instrucciones de longitud variable y microcodigo; aqui el decodificador cabria en una pantalla</a:t>
            </a:r>
          </a:p>
          <a:p>
            <a:pPr algn="l" marL="237744" indent="-237744">
              <a:lnSpc>
                <a:spcPct val="115000"/>
              </a:lnSpc>
              <a:spcAft>
                <a:spcPts val="1200"/>
              </a:spcAft>
            </a:pPr>
            <a:r>
              <a:rPr sz="1600" b="0" i="0">
                <a:solidFill>
                  <a:srgbClr val="404040"/>
                </a:solidFill>
              </a:rPr>
              <a:t>•</a:t>
            </a:r>
            <a:r>
              <a:rPr sz="1600" b="1" i="0">
                <a:solidFill>
                  <a:srgbClr val="404040"/>
                </a:solidFill>
              </a:rPr>
              <a:t>Ganancia:</a:t>
            </a:r>
            <a:r>
              <a:rPr sz="1600" b="0" i="0">
                <a:solidFill>
                  <a:srgbClr val="404040"/>
                </a:solidFill>
              </a:rPr>
              <a:t> se implementa el ciclo completo sin perderse en el formato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ctr"/>
            <a:r>
              <a:rPr sz="2600" b="1" i="0">
                <a:solidFill>
                  <a:srgbClr val="1F497D"/>
                </a:solidFill>
                <a:latin typeface="Gill Sans MT"/>
              </a:rPr>
              <a:t>Arquitectura del emulador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ctr" marL="237744" indent="-237744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4F81BD"/>
                </a:solidFill>
              </a:rPr>
              <a:t>PC · ROM · RAM · registros · memorias de instrucciones y de datos     min. 6 –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66160" y="960120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DCE6F1"/>
                </a:solidFill>
              </a:rPr>
              <a:t>02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400" b="1" i="0">
                <a:solidFill>
                  <a:srgbClr val="1F497D"/>
                </a:solidFill>
                <a:latin typeface="Gill Sans MT"/>
              </a:rPr>
              <a:t>El sistema en 5 paquetes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234440"/>
            <a:ext cx="1554480" cy="384048"/>
          </a:xfrm>
          <a:prstGeom prst="roundRect">
            <a:avLst>
              <a:gd name="adj" fmla="val 8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36576" b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16736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cpu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36776"/>
            <a:ext cx="1554480" cy="123444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 w="1270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36576" bIns="36576"/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404040"/>
                </a:solidFill>
              </a:rPr>
              <a:t>CPU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404040"/>
                </a:solidFill>
              </a:rPr>
              <a:t>PC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404040"/>
                </a:solidFill>
              </a:rPr>
              <a:t>ciclo de 5 etapas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066544" y="2240280"/>
            <a:ext cx="73152" cy="0"/>
          </a:xfrm>
          <a:prstGeom prst="line">
            <a:avLst/>
          </a:prstGeom>
          <a:ln w="19050">
            <a:solidFill>
              <a:srgbClr val="4F81B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148840" y="1234440"/>
            <a:ext cx="1554480" cy="384048"/>
          </a:xfrm>
          <a:prstGeom prst="roundRect">
            <a:avLst>
              <a:gd name="adj" fmla="val 8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36576" bIns="36576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48840" y="1316736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ejecucion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48840" y="1636776"/>
            <a:ext cx="1554480" cy="123444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 w="1270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36576" bIns="36576"/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404040"/>
                </a:solidFill>
              </a:rPr>
              <a:t>UnidadControl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404040"/>
                </a:solidFill>
              </a:rPr>
              <a:t>EjecutorInstrucciones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404040"/>
                </a:solidFill>
              </a:rPr>
              <a:t>SenalesControl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712464" y="2240280"/>
            <a:ext cx="73152" cy="0"/>
          </a:xfrm>
          <a:prstGeom prst="line">
            <a:avLst/>
          </a:prstGeom>
          <a:ln w="19050">
            <a:solidFill>
              <a:srgbClr val="4F81B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794760" y="1234440"/>
            <a:ext cx="1554480" cy="384048"/>
          </a:xfrm>
          <a:prstGeom prst="roundRect">
            <a:avLst>
              <a:gd name="adj" fmla="val 8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60" y="1316736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memoria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94760" y="1636776"/>
            <a:ext cx="1554480" cy="123444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 w="1270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36576" bIns="36576"/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404040"/>
                </a:solidFill>
              </a:rPr>
              <a:t>MemoriaSistema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404040"/>
                </a:solidFill>
              </a:rPr>
              <a:t>ROM · RAM · DiscoDuro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404040"/>
                </a:solidFill>
              </a:rPr>
              <a:t>Registros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358384" y="2240280"/>
            <a:ext cx="73152" cy="0"/>
          </a:xfrm>
          <a:prstGeom prst="line">
            <a:avLst/>
          </a:prstGeom>
          <a:ln w="19050">
            <a:solidFill>
              <a:srgbClr val="4F81B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440680" y="1234440"/>
            <a:ext cx="1554480" cy="384048"/>
          </a:xfrm>
          <a:prstGeom prst="roundRect">
            <a:avLst>
              <a:gd name="adj" fmla="val 8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40680" y="1316736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alu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40680" y="1636776"/>
            <a:ext cx="1554480" cy="123444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 w="1270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36576" bIns="36576"/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404040"/>
                </a:solidFill>
              </a:rPr>
              <a:t>ALU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404040"/>
                </a:solidFill>
              </a:rPr>
              <a:t>OperacionALU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004304" y="2240280"/>
            <a:ext cx="73152" cy="0"/>
          </a:xfrm>
          <a:prstGeom prst="line">
            <a:avLst/>
          </a:prstGeom>
          <a:ln w="19050">
            <a:solidFill>
              <a:srgbClr val="4F81B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086600" y="1234440"/>
            <a:ext cx="1554480" cy="384048"/>
          </a:xfrm>
          <a:prstGeom prst="roundRect">
            <a:avLst>
              <a:gd name="adj" fmla="val 8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6600" y="1316736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instruccion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86600" y="1636776"/>
            <a:ext cx="1554480" cy="123444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 w="1270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36576" bIns="36576"/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404040"/>
                </a:solidFill>
              </a:rPr>
              <a:t>Instruccion · Decodificador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404040"/>
                </a:solidFill>
              </a:rPr>
              <a:t>Opcode · Funct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404040"/>
                </a:solidFill>
              </a:rPr>
              <a:t>ProgramaBuilder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2971800"/>
            <a:ext cx="8138160" cy="502920"/>
          </a:xfrm>
          <a:prstGeom prst="roundRect">
            <a:avLst>
              <a:gd name="adj" fmla="val 8000"/>
            </a:avLst>
          </a:prstGeom>
          <a:solidFill>
            <a:srgbClr val="DCE6F1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36576" bIns="36576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1F497D"/>
                </a:solidFill>
              </a:rPr>
              <a:t>Fuera del nucleo</a:t>
            </a:r>
            <a:r>
              <a:rPr sz="1200" b="0" i="0">
                <a:solidFill>
                  <a:srgbClr val="1F497D"/>
                </a:solidFill>
              </a:rPr>
              <a:t> (usan el nucleo, no lo tocan):   ui (ventana grafica)   ·   programas (5)   ·   pruebas (201)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657600"/>
            <a:ext cx="8138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404040"/>
                </a:solidFill>
              </a:rPr>
              <a:t>Diagrama de clases completo: docs/diagramas/diagrama_clases_nucleo.png  (22 clases en el nucleo)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400" b="1" i="0">
                <a:solidFill>
                  <a:srgbClr val="1F497D"/>
                </a:solidFill>
                <a:latin typeface="Gill Sans MT"/>
              </a:rPr>
              <a:t>Mapa de memoria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417320"/>
            <a:ext cx="2651760" cy="1188720"/>
          </a:xfrm>
          <a:prstGeom prst="roundRect">
            <a:avLst>
              <a:gd name="adj" fmla="val 8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36576" b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</a:rPr>
              <a:t>ROM  ·  texto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FFFFFF"/>
                </a:solidFill>
                <a:latin typeface="Consolas"/>
              </a:rPr>
              <a:t>0 – 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4884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DCE6F1"/>
                </a:solidFill>
              </a:rPr>
              <a:t>100 celdas x 32 bits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50008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DCE6F1"/>
                </a:solidFill>
              </a:rPr>
              <a:t>instrucciones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1417320"/>
            <a:ext cx="2651760" cy="1188720"/>
          </a:xfrm>
          <a:prstGeom prst="roundRect">
            <a:avLst>
              <a:gd name="adj" fmla="val 8000"/>
            </a:avLst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36576" bIns="36576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5087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</a:rPr>
              <a:t>RAM  ·  datos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82880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FFFFFF"/>
                </a:solidFill>
                <a:latin typeface="Consolas"/>
              </a:rPr>
              <a:t>100 – 199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14884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DCE6F1"/>
                </a:solidFill>
              </a:rPr>
              <a:t>100 celdas x 32 bits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350008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DCE6F1"/>
                </a:solidFill>
              </a:rPr>
              <a:t>datos del programa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417320"/>
            <a:ext cx="2651760" cy="1188720"/>
          </a:xfrm>
          <a:prstGeom prst="roundRect">
            <a:avLst>
              <a:gd name="adj" fmla="val 8000"/>
            </a:avLst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36576" bIns="36576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15087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</a:rPr>
              <a:t>DiscoDuro  ·  disco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182880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FFFFFF"/>
                </a:solidFill>
                <a:latin typeface="Consolas"/>
              </a:rPr>
              <a:t>200 – 299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214884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DCE6F1"/>
                </a:solidFill>
              </a:rPr>
              <a:t>100 celdas x 32 bits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350008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DCE6F1"/>
                </a:solidFill>
              </a:rPr>
              <a:t>persistencia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063240"/>
            <a:ext cx="8138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9456" indent="-219456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404040"/>
                </a:solidFill>
              </a:rPr>
              <a:t>•  Direccion </a:t>
            </a:r>
            <a:r>
              <a:rPr sz="1300" b="1" i="0">
                <a:solidFill>
                  <a:srgbClr val="404040"/>
                </a:solidFill>
              </a:rPr>
              <a:t>global 0 … 299</a:t>
            </a:r>
            <a:r>
              <a:rPr sz="1300" b="0" i="0">
                <a:solidFill>
                  <a:srgbClr val="404040"/>
                </a:solidFill>
              </a:rPr>
              <a:t>: una direccion = una </a:t>
            </a:r>
            <a:r>
              <a:rPr sz="1300" b="1" i="0">
                <a:solidFill>
                  <a:srgbClr val="404040"/>
                </a:solidFill>
              </a:rPr>
              <a:t>palabra de 32 bits</a:t>
            </a:r>
          </a:p>
          <a:p>
            <a:pPr marL="219456" indent="-219456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404040"/>
                </a:solidFill>
              </a:rPr>
              <a:t>•  </a:t>
            </a:r>
            <a:r>
              <a:rPr sz="1300" b="1" i="0">
                <a:solidFill>
                  <a:srgbClr val="404040"/>
                </a:solidFill>
              </a:rPr>
              <a:t>MemoriaSistema</a:t>
            </a:r>
            <a:r>
              <a:rPr sz="1300" b="0" i="0">
                <a:solidFill>
                  <a:srgbClr val="404040"/>
                </a:solidFill>
              </a:rPr>
              <a:t> enruta cada acceso al segmento que la contiene (`segmentoDe`) y avisa si la direccion no existe</a:t>
            </a:r>
          </a:p>
          <a:p>
            <a:pPr marL="219456" indent="-219456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404040"/>
                </a:solidFill>
              </a:rPr>
              <a:t>•  El volcado muestra la direccion en </a:t>
            </a:r>
            <a:r>
              <a:rPr sz="1300" b="1" i="0">
                <a:solidFill>
                  <a:srgbClr val="404040"/>
                </a:solidFill>
              </a:rPr>
              <a:t>decimal y hexadecimal</a:t>
            </a:r>
            <a:r>
              <a:rPr sz="1300" b="0" i="0">
                <a:solidFill>
                  <a:srgbClr val="404040"/>
                </a:solidFill>
              </a:rPr>
              <a:t>: dir 100 (0x00000064)</a:t>
            </a:r>
          </a:p>
          <a:p>
            <a:pPr marL="219456" indent="-219456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404040"/>
                </a:solidFill>
              </a:rPr>
              <a:t>•  </a:t>
            </a:r>
            <a:r>
              <a:rPr sz="1300" b="1" i="0">
                <a:solidFill>
                  <a:srgbClr val="404040"/>
                </a:solidFill>
              </a:rPr>
              <a:t>Reglas:</a:t>
            </a:r>
            <a:r>
              <a:rPr sz="1300" b="0" i="0">
                <a:solidFill>
                  <a:srgbClr val="404040"/>
                </a:solidFill>
              </a:rPr>
              <a:t> ROM bloqueada tras cargar · RAM arranca en 000 · DiscoDuro se guarda y se carga en un archivo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 marL="237744" indent="-237744">
              <a:lnSpc>
                <a:spcPct val="115000"/>
              </a:lnSpc>
              <a:spcAft>
                <a:spcPts val="800"/>
              </a:spcAft>
            </a:pPr>
            <a:r>
              <a:rPr sz="1300" b="0" i="0">
                <a:solidFill>
                  <a:srgbClr val="404040"/>
                </a:solidFill>
              </a:rPr>
              <a:t>•Segmento </a:t>
            </a:r>
            <a:r>
              <a:rPr sz="1300" b="1" i="0">
                <a:solidFill>
                  <a:srgbClr val="404040"/>
                </a:solidFill>
              </a:rPr>
              <a:t>texto</a:t>
            </a:r>
            <a:r>
              <a:rPr sz="1300" b="0" i="0">
                <a:solidFill>
                  <a:srgbClr val="404040"/>
                </a:solidFill>
              </a:rPr>
              <a:t>, direcciones </a:t>
            </a:r>
            <a:r>
              <a:rPr sz="1300" b="1" i="0">
                <a:solidFill>
                  <a:srgbClr val="404040"/>
                </a:solidFill>
              </a:rPr>
              <a:t>0 – 99</a:t>
            </a:r>
          </a:p>
          <a:p>
            <a:pPr algn="l" marL="237744" indent="-237744">
              <a:lnSpc>
                <a:spcPct val="115000"/>
              </a:lnSpc>
              <a:spcAft>
                <a:spcPts val="800"/>
              </a:spcAft>
            </a:pPr>
            <a:r>
              <a:rPr sz="1300" b="0" i="0">
                <a:solidFill>
                  <a:srgbClr val="404040"/>
                </a:solidFill>
              </a:rPr>
              <a:t>•100 celdas de </a:t>
            </a:r>
            <a:r>
              <a:rPr sz="1300" b="1" i="0">
                <a:solidFill>
                  <a:srgbClr val="404040"/>
                </a:solidFill>
              </a:rPr>
              <a:t>32 bits</a:t>
            </a:r>
          </a:p>
          <a:p>
            <a:pPr algn="l" marL="237744" indent="-237744">
              <a:lnSpc>
                <a:spcPct val="115000"/>
              </a:lnSpc>
              <a:spcAft>
                <a:spcPts val="800"/>
              </a:spcAft>
            </a:pPr>
            <a:r>
              <a:rPr sz="1300" b="0" i="0">
                <a:solidFill>
                  <a:srgbClr val="404040"/>
                </a:solidFill>
              </a:rPr>
              <a:t>•Aqui vive el </a:t>
            </a:r>
            <a:r>
              <a:rPr sz="1300" b="1" i="0">
                <a:solidFill>
                  <a:srgbClr val="404040"/>
                </a:solidFill>
              </a:rPr>
              <a:t>programa</a:t>
            </a:r>
            <a:r>
              <a:rPr sz="1300" b="0" i="0">
                <a:solidFill>
                  <a:srgbClr val="404040"/>
                </a:solidFill>
              </a:rPr>
              <a:t> (lo que se ensamblo)</a:t>
            </a:r>
          </a:p>
          <a:p>
            <a:pPr algn="l" marL="237744" indent="-237744">
              <a:lnSpc>
                <a:spcPct val="115000"/>
              </a:lnSpc>
              <a:spcAft>
                <a:spcPts val="800"/>
              </a:spcAft>
            </a:pPr>
            <a:r>
              <a:rPr sz="1300" b="0" i="0">
                <a:solidFill>
                  <a:srgbClr val="404040"/>
                </a:solidFill>
              </a:rPr>
              <a:t>•</a:t>
            </a:r>
            <a:r>
              <a:rPr sz="1300" b="1" i="0">
                <a:solidFill>
                  <a:srgbClr val="404040"/>
                </a:solidFill>
              </a:rPr>
              <a:t>Solo lectura</a:t>
            </a:r>
            <a:r>
              <a:rPr sz="1300" b="0" i="0">
                <a:solidFill>
                  <a:srgbClr val="404040"/>
                </a:solidFill>
              </a:rPr>
              <a:t>: `ROM.bloquear()` tras cargar</a:t>
            </a:r>
          </a:p>
          <a:p>
            <a:pPr algn="l" marL="237744" indent="-237744">
              <a:lnSpc>
                <a:spcPct val="115000"/>
              </a:lnSpc>
              <a:spcAft>
                <a:spcPts val="800"/>
              </a:spcAft>
            </a:pPr>
            <a:r>
              <a:rPr sz="1300" b="0" i="0">
                <a:solidFill>
                  <a:srgbClr val="404040"/>
                </a:solidFill>
              </a:rPr>
              <a:t>•La CPU busca aqui su instruccion (etapa </a:t>
            </a:r>
            <a:r>
              <a:rPr sz="1300" b="1" i="0">
                <a:solidFill>
                  <a:srgbClr val="404040"/>
                </a:solidFill>
              </a:rPr>
              <a:t>IF</a:t>
            </a:r>
            <a:r>
              <a:rPr sz="1300" b="0" i="0">
                <a:solidFill>
                  <a:srgbClr val="404040"/>
                </a:solidFill>
              </a:rPr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5" sz="quarter"/>
          </p:nvPr>
        </p:nvSpPr>
        <p:spPr/>
        <p:txBody>
          <a:bodyPr wrap="square"/>
          <a:lstStyle/>
          <a:p>
            <a:pPr algn="l" marL="237744" indent="-237744">
              <a:lnSpc>
                <a:spcPct val="115000"/>
              </a:lnSpc>
              <a:spcAft>
                <a:spcPts val="800"/>
              </a:spcAft>
            </a:pPr>
            <a:r>
              <a:rPr sz="1300" b="0" i="0">
                <a:solidFill>
                  <a:srgbClr val="404040"/>
                </a:solidFill>
              </a:rPr>
              <a:t>•Segmento </a:t>
            </a:r>
            <a:r>
              <a:rPr sz="1300" b="1" i="0">
                <a:solidFill>
                  <a:srgbClr val="404040"/>
                </a:solidFill>
              </a:rPr>
              <a:t>datos</a:t>
            </a:r>
            <a:r>
              <a:rPr sz="1300" b="0" i="0">
                <a:solidFill>
                  <a:srgbClr val="404040"/>
                </a:solidFill>
              </a:rPr>
              <a:t>, direcciones </a:t>
            </a:r>
            <a:r>
              <a:rPr sz="1300" b="1" i="0">
                <a:solidFill>
                  <a:srgbClr val="404040"/>
                </a:solidFill>
              </a:rPr>
              <a:t>100 – 199</a:t>
            </a:r>
          </a:p>
          <a:p>
            <a:pPr algn="l" marL="237744" indent="-237744">
              <a:lnSpc>
                <a:spcPct val="115000"/>
              </a:lnSpc>
              <a:spcAft>
                <a:spcPts val="800"/>
              </a:spcAft>
            </a:pPr>
            <a:r>
              <a:rPr sz="1300" b="0" i="0">
                <a:solidFill>
                  <a:srgbClr val="404040"/>
                </a:solidFill>
              </a:rPr>
              <a:t>•100 celdas de 32 bits, lectura y escritura</a:t>
            </a:r>
          </a:p>
          <a:p>
            <a:pPr algn="l" marL="237744" indent="-237744">
              <a:lnSpc>
                <a:spcPct val="115000"/>
              </a:lnSpc>
              <a:spcAft>
                <a:spcPts val="800"/>
              </a:spcAft>
            </a:pPr>
            <a:r>
              <a:rPr sz="1300" b="0" i="0">
                <a:solidFill>
                  <a:srgbClr val="404040"/>
                </a:solidFill>
              </a:rPr>
              <a:t>•Se accede solo con </a:t>
            </a:r>
            <a:r>
              <a:rPr sz="1300" b="1" i="0">
                <a:solidFill>
                  <a:srgbClr val="404040"/>
                </a:solidFill>
              </a:rPr>
              <a:t>lw</a:t>
            </a:r>
            <a:r>
              <a:rPr sz="1300" b="0" i="0">
                <a:solidFill>
                  <a:srgbClr val="404040"/>
                </a:solidFill>
              </a:rPr>
              <a:t> y </a:t>
            </a:r>
            <a:r>
              <a:rPr sz="1300" b="1" i="0">
                <a:solidFill>
                  <a:srgbClr val="404040"/>
                </a:solidFill>
              </a:rPr>
              <a:t>sw</a:t>
            </a:r>
          </a:p>
          <a:p>
            <a:pPr algn="l" marL="237744" indent="-237744">
              <a:lnSpc>
                <a:spcPct val="115000"/>
              </a:lnSpc>
              <a:spcAft>
                <a:spcPts val="800"/>
              </a:spcAft>
            </a:pPr>
            <a:r>
              <a:rPr sz="1300" b="0" i="0">
                <a:solidFill>
                  <a:srgbClr val="404040"/>
                </a:solidFill>
              </a:rPr>
              <a:t>•Arranca en </a:t>
            </a:r>
            <a:r>
              <a:rPr sz="1300" b="1" i="0">
                <a:solidFill>
                  <a:srgbClr val="404040"/>
                </a:solidFill>
              </a:rPr>
              <a:t>000</a:t>
            </a:r>
            <a:r>
              <a:rPr sz="1300" b="0" i="0">
                <a:solidFill>
                  <a:srgbClr val="404040"/>
                </a:solidFill>
              </a:rPr>
              <a:t> (verificado por pruebas)</a:t>
            </a:r>
          </a:p>
          <a:p>
            <a:pPr algn="l" marL="237744" indent="-237744">
              <a:lnSpc>
                <a:spcPct val="115000"/>
              </a:lnSpc>
              <a:spcAft>
                <a:spcPts val="800"/>
              </a:spcAft>
            </a:pPr>
            <a:r>
              <a:rPr sz="1300" b="0" i="0">
                <a:solidFill>
                  <a:srgbClr val="404040"/>
                </a:solidFill>
              </a:rPr>
              <a:t>•</a:t>
            </a:r>
            <a:r>
              <a:rPr sz="1300" b="1" i="0">
                <a:solidFill>
                  <a:srgbClr val="404040"/>
                </a:solidFill>
              </a:rPr>
              <a:t>DiscoDuro</a:t>
            </a:r>
            <a:r>
              <a:rPr sz="1300" b="0" i="0">
                <a:solidFill>
                  <a:srgbClr val="404040"/>
                </a:solidFill>
              </a:rPr>
              <a:t> (200 – 299): persistencia en archivo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 wrap="square"/>
          <a:lstStyle/>
          <a:p>
            <a:pPr algn="l"/>
            <a:r>
              <a:rPr sz="1800" b="1" i="0">
                <a:solidFill>
                  <a:srgbClr val="1F497D"/>
                </a:solidFill>
                <a:latin typeface="Gill Sans MT"/>
              </a:rPr>
              <a:t>Memoria de datos (RAM)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 wrap="square"/>
          <a:lstStyle/>
          <a:p>
            <a:pPr algn="l"/>
            <a:r>
              <a:rPr sz="1800" b="1" i="0">
                <a:solidFill>
                  <a:srgbClr val="1F497D"/>
                </a:solidFill>
                <a:latin typeface="Gill Sans MT"/>
              </a:rPr>
              <a:t>Memoria de instrucciones (ROM)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400" b="1" i="0">
                <a:solidFill>
                  <a:srgbClr val="1F497D"/>
                </a:solidFill>
                <a:latin typeface="Gill Sans MT"/>
              </a:rPr>
              <a:t>Registros del procesador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325880"/>
            <a:ext cx="640080" cy="384048"/>
          </a:xfrm>
          <a:prstGeom prst="rect">
            <a:avLst/>
          </a:prstGeom>
          <a:solidFill>
            <a:srgbClr val="1F497D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</a:rPr>
              <a:t>$zero</a:t>
            </a:r>
          </a:p>
        </p:txBody>
      </p:sp>
      <p:sp>
        <p:nvSpPr>
          <p:cNvPr id="4" name="Rectangle 3"/>
          <p:cNvSpPr/>
          <p:nvPr/>
        </p:nvSpPr>
        <p:spPr>
          <a:xfrm>
            <a:off x="1197864" y="1325880"/>
            <a:ext cx="640080" cy="384048"/>
          </a:xfrm>
          <a:prstGeom prst="rect">
            <a:avLst/>
          </a:prstGeom>
          <a:solidFill>
            <a:srgbClr val="F3F6FA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404040"/>
                </a:solidFill>
              </a:rPr>
              <a:t>$at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2808" y="1325880"/>
            <a:ext cx="640080" cy="384048"/>
          </a:xfrm>
          <a:prstGeom prst="rect">
            <a:avLst/>
          </a:prstGeom>
          <a:solidFill>
            <a:srgbClr val="DCE6F1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F497D"/>
                </a:solidFill>
              </a:rPr>
              <a:t>$v0</a:t>
            </a:r>
          </a:p>
        </p:txBody>
      </p:sp>
      <p:sp>
        <p:nvSpPr>
          <p:cNvPr id="6" name="Rectangle 5"/>
          <p:cNvSpPr/>
          <p:nvPr/>
        </p:nvSpPr>
        <p:spPr>
          <a:xfrm>
            <a:off x="2587752" y="1325880"/>
            <a:ext cx="640080" cy="384048"/>
          </a:xfrm>
          <a:prstGeom prst="rect">
            <a:avLst/>
          </a:prstGeom>
          <a:solidFill>
            <a:srgbClr val="F3F6FA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404040"/>
                </a:solidFill>
              </a:rPr>
              <a:t>$v1</a:t>
            </a:r>
          </a:p>
        </p:txBody>
      </p:sp>
      <p:sp>
        <p:nvSpPr>
          <p:cNvPr id="7" name="Rectangle 6"/>
          <p:cNvSpPr/>
          <p:nvPr/>
        </p:nvSpPr>
        <p:spPr>
          <a:xfrm>
            <a:off x="3282696" y="1325880"/>
            <a:ext cx="640080" cy="384048"/>
          </a:xfrm>
          <a:prstGeom prst="rect">
            <a:avLst/>
          </a:prstGeom>
          <a:solidFill>
            <a:srgbClr val="DCE6F1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F497D"/>
                </a:solidFill>
              </a:rPr>
              <a:t>$a0</a:t>
            </a:r>
          </a:p>
        </p:txBody>
      </p:sp>
      <p:sp>
        <p:nvSpPr>
          <p:cNvPr id="8" name="Rectangle 7"/>
          <p:cNvSpPr/>
          <p:nvPr/>
        </p:nvSpPr>
        <p:spPr>
          <a:xfrm>
            <a:off x="3977640" y="1325880"/>
            <a:ext cx="640080" cy="384048"/>
          </a:xfrm>
          <a:prstGeom prst="rect">
            <a:avLst/>
          </a:prstGeom>
          <a:solidFill>
            <a:srgbClr val="F3F6FA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404040"/>
                </a:solidFill>
              </a:rPr>
              <a:t>$a1</a:t>
            </a:r>
          </a:p>
        </p:txBody>
      </p:sp>
      <p:sp>
        <p:nvSpPr>
          <p:cNvPr id="9" name="Rectangle 8"/>
          <p:cNvSpPr/>
          <p:nvPr/>
        </p:nvSpPr>
        <p:spPr>
          <a:xfrm>
            <a:off x="4672584" y="1325880"/>
            <a:ext cx="640080" cy="384048"/>
          </a:xfrm>
          <a:prstGeom prst="rect">
            <a:avLst/>
          </a:prstGeom>
          <a:solidFill>
            <a:srgbClr val="F3F6FA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404040"/>
                </a:solidFill>
              </a:rPr>
              <a:t>$a2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67528" y="1325880"/>
            <a:ext cx="640080" cy="384048"/>
          </a:xfrm>
          <a:prstGeom prst="rect">
            <a:avLst/>
          </a:prstGeom>
          <a:solidFill>
            <a:srgbClr val="F3F6FA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404040"/>
                </a:solidFill>
              </a:rPr>
              <a:t>$a3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764792"/>
            <a:ext cx="640080" cy="384048"/>
          </a:xfrm>
          <a:prstGeom prst="rect">
            <a:avLst/>
          </a:prstGeom>
          <a:solidFill>
            <a:srgbClr val="F3F6FA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404040"/>
                </a:solidFill>
              </a:rPr>
              <a:t>$t0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97864" y="1764792"/>
            <a:ext cx="640080" cy="384048"/>
          </a:xfrm>
          <a:prstGeom prst="rect">
            <a:avLst/>
          </a:prstGeom>
          <a:solidFill>
            <a:srgbClr val="F3F6FA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404040"/>
                </a:solidFill>
              </a:rPr>
              <a:t>$t1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92808" y="1764792"/>
            <a:ext cx="640080" cy="384048"/>
          </a:xfrm>
          <a:prstGeom prst="rect">
            <a:avLst/>
          </a:prstGeom>
          <a:solidFill>
            <a:srgbClr val="F3F6FA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404040"/>
                </a:solidFill>
              </a:rPr>
              <a:t>$t2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87752" y="1764792"/>
            <a:ext cx="640080" cy="384048"/>
          </a:xfrm>
          <a:prstGeom prst="rect">
            <a:avLst/>
          </a:prstGeom>
          <a:solidFill>
            <a:srgbClr val="F3F6FA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404040"/>
                </a:solidFill>
              </a:rPr>
              <a:t>$t3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82696" y="1764792"/>
            <a:ext cx="640080" cy="384048"/>
          </a:xfrm>
          <a:prstGeom prst="rect">
            <a:avLst/>
          </a:prstGeom>
          <a:solidFill>
            <a:srgbClr val="F3F6FA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404040"/>
                </a:solidFill>
              </a:rPr>
              <a:t>$t4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77640" y="1764792"/>
            <a:ext cx="640080" cy="384048"/>
          </a:xfrm>
          <a:prstGeom prst="rect">
            <a:avLst/>
          </a:prstGeom>
          <a:solidFill>
            <a:srgbClr val="F3F6FA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404040"/>
                </a:solidFill>
              </a:rPr>
              <a:t>$t5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72584" y="1764792"/>
            <a:ext cx="640080" cy="384048"/>
          </a:xfrm>
          <a:prstGeom prst="rect">
            <a:avLst/>
          </a:prstGeom>
          <a:solidFill>
            <a:srgbClr val="F3F6FA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404040"/>
                </a:solidFill>
              </a:rPr>
              <a:t>$t6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67528" y="1764792"/>
            <a:ext cx="640080" cy="384048"/>
          </a:xfrm>
          <a:prstGeom prst="rect">
            <a:avLst/>
          </a:prstGeom>
          <a:solidFill>
            <a:srgbClr val="F3F6FA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404040"/>
                </a:solidFill>
              </a:rPr>
              <a:t>$t7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203704"/>
            <a:ext cx="640080" cy="384048"/>
          </a:xfrm>
          <a:prstGeom prst="rect">
            <a:avLst/>
          </a:prstGeom>
          <a:solidFill>
            <a:srgbClr val="F3F6FA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404040"/>
                </a:solidFill>
              </a:rPr>
              <a:t>$s0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97864" y="2203704"/>
            <a:ext cx="640080" cy="384048"/>
          </a:xfrm>
          <a:prstGeom prst="rect">
            <a:avLst/>
          </a:prstGeom>
          <a:solidFill>
            <a:srgbClr val="F3F6FA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404040"/>
                </a:solidFill>
              </a:rPr>
              <a:t>$s1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92808" y="2203704"/>
            <a:ext cx="640080" cy="384048"/>
          </a:xfrm>
          <a:prstGeom prst="rect">
            <a:avLst/>
          </a:prstGeom>
          <a:solidFill>
            <a:srgbClr val="F3F6FA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404040"/>
                </a:solidFill>
              </a:rPr>
              <a:t>$s2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87752" y="2203704"/>
            <a:ext cx="640080" cy="384048"/>
          </a:xfrm>
          <a:prstGeom prst="rect">
            <a:avLst/>
          </a:prstGeom>
          <a:solidFill>
            <a:srgbClr val="F3F6FA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404040"/>
                </a:solidFill>
              </a:rPr>
              <a:t>$s3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82696" y="2203704"/>
            <a:ext cx="640080" cy="384048"/>
          </a:xfrm>
          <a:prstGeom prst="rect">
            <a:avLst/>
          </a:prstGeom>
          <a:solidFill>
            <a:srgbClr val="F3F6FA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404040"/>
                </a:solidFill>
              </a:rPr>
              <a:t>$s4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77640" y="2203704"/>
            <a:ext cx="640080" cy="384048"/>
          </a:xfrm>
          <a:prstGeom prst="rect">
            <a:avLst/>
          </a:prstGeom>
          <a:solidFill>
            <a:srgbClr val="F3F6FA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404040"/>
                </a:solidFill>
              </a:rPr>
              <a:t>$s5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72584" y="2203704"/>
            <a:ext cx="640080" cy="384048"/>
          </a:xfrm>
          <a:prstGeom prst="rect">
            <a:avLst/>
          </a:prstGeom>
          <a:solidFill>
            <a:srgbClr val="F3F6FA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404040"/>
                </a:solidFill>
              </a:rPr>
              <a:t>$s6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67528" y="2203704"/>
            <a:ext cx="640080" cy="384048"/>
          </a:xfrm>
          <a:prstGeom prst="rect">
            <a:avLst/>
          </a:prstGeom>
          <a:solidFill>
            <a:srgbClr val="F3F6FA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404040"/>
                </a:solidFill>
              </a:rPr>
              <a:t>$s7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2642616"/>
            <a:ext cx="640080" cy="384048"/>
          </a:xfrm>
          <a:prstGeom prst="rect">
            <a:avLst/>
          </a:prstGeom>
          <a:solidFill>
            <a:srgbClr val="F3F6FA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404040"/>
                </a:solidFill>
              </a:rPr>
              <a:t>$t8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97864" y="2642616"/>
            <a:ext cx="640080" cy="384048"/>
          </a:xfrm>
          <a:prstGeom prst="rect">
            <a:avLst/>
          </a:prstGeom>
          <a:solidFill>
            <a:srgbClr val="F3F6FA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404040"/>
                </a:solidFill>
              </a:rPr>
              <a:t>$t9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92808" y="2642616"/>
            <a:ext cx="640080" cy="384048"/>
          </a:xfrm>
          <a:prstGeom prst="rect">
            <a:avLst/>
          </a:prstGeom>
          <a:solidFill>
            <a:srgbClr val="F3F6FA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404040"/>
                </a:solidFill>
              </a:rPr>
              <a:t>$k0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87752" y="2642616"/>
            <a:ext cx="640080" cy="384048"/>
          </a:xfrm>
          <a:prstGeom prst="rect">
            <a:avLst/>
          </a:prstGeom>
          <a:solidFill>
            <a:srgbClr val="F3F6FA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404040"/>
                </a:solidFill>
              </a:rPr>
              <a:t>$k1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82696" y="2642616"/>
            <a:ext cx="640080" cy="384048"/>
          </a:xfrm>
          <a:prstGeom prst="rect">
            <a:avLst/>
          </a:prstGeom>
          <a:solidFill>
            <a:srgbClr val="F3F6FA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404040"/>
                </a:solidFill>
              </a:rPr>
              <a:t>$gp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77640" y="2642616"/>
            <a:ext cx="640080" cy="384048"/>
          </a:xfrm>
          <a:prstGeom prst="rect">
            <a:avLst/>
          </a:prstGeom>
          <a:solidFill>
            <a:srgbClr val="DCE6F1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F497D"/>
                </a:solidFill>
              </a:rPr>
              <a:t>$sp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72584" y="2642616"/>
            <a:ext cx="640080" cy="384048"/>
          </a:xfrm>
          <a:prstGeom prst="rect">
            <a:avLst/>
          </a:prstGeom>
          <a:solidFill>
            <a:srgbClr val="F3F6FA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404040"/>
                </a:solidFill>
              </a:rPr>
              <a:t>$fp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67528" y="2642616"/>
            <a:ext cx="640080" cy="384048"/>
          </a:xfrm>
          <a:prstGeom prst="rect">
            <a:avLst/>
          </a:prstGeom>
          <a:solidFill>
            <a:srgbClr val="DCE6F1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F497D"/>
                </a:solidFill>
              </a:rPr>
              <a:t>$ra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72200" y="1325880"/>
            <a:ext cx="25146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880" indent="-182880">
              <a:lnSpc>
                <a:spcPct val="110000"/>
              </a:lnSpc>
              <a:spcAft>
                <a:spcPts val="700"/>
              </a:spcAft>
            </a:pPr>
            <a:r>
              <a:rPr sz="1050" b="0" i="0">
                <a:solidFill>
                  <a:srgbClr val="404040"/>
                </a:solidFill>
              </a:rPr>
              <a:t>•  </a:t>
            </a:r>
            <a:r>
              <a:rPr sz="1050" b="1" i="0">
                <a:solidFill>
                  <a:srgbClr val="404040"/>
                </a:solidFill>
              </a:rPr>
              <a:t>32 registros x 32 bits</a:t>
            </a:r>
            <a:r>
              <a:rPr sz="1050" b="0" i="0">
                <a:solidFill>
                  <a:srgbClr val="404040"/>
                </a:solidFill>
              </a:rPr>
              <a:t> dentro de la CPU</a:t>
            </a:r>
          </a:p>
          <a:p>
            <a:pPr marL="182880" indent="-182880">
              <a:lnSpc>
                <a:spcPct val="110000"/>
              </a:lnSpc>
              <a:spcAft>
                <a:spcPts val="700"/>
              </a:spcAft>
            </a:pPr>
            <a:r>
              <a:rPr sz="1050" b="0" i="0">
                <a:solidFill>
                  <a:srgbClr val="404040"/>
                </a:solidFill>
              </a:rPr>
              <a:t>•  `$zero` siempre vale 0: </a:t>
            </a:r>
            <a:r>
              <a:rPr sz="1050" b="1" i="0">
                <a:solidFill>
                  <a:srgbClr val="404040"/>
                </a:solidFill>
              </a:rPr>
              <a:t>las escrituras se ignoran</a:t>
            </a:r>
          </a:p>
          <a:p>
            <a:pPr marL="182880" indent="-182880">
              <a:lnSpc>
                <a:spcPct val="110000"/>
              </a:lnSpc>
              <a:spcAft>
                <a:spcPts val="700"/>
              </a:spcAft>
            </a:pPr>
            <a:r>
              <a:rPr sz="1050" b="0" i="0">
                <a:solidFill>
                  <a:srgbClr val="404040"/>
                </a:solidFill>
              </a:rPr>
              <a:t>•  `$v0` = servicio del syscall · `$a0` = argumento</a:t>
            </a:r>
          </a:p>
          <a:p>
            <a:pPr marL="182880" indent="-182880">
              <a:lnSpc>
                <a:spcPct val="110000"/>
              </a:lnSpc>
              <a:spcAft>
                <a:spcPts val="700"/>
              </a:spcAft>
            </a:pPr>
            <a:r>
              <a:rPr sz="1050" b="0" i="0">
                <a:solidFill>
                  <a:srgbClr val="404040"/>
                </a:solidFill>
              </a:rPr>
              <a:t>•  `$t0–$t9` temporales · `$s0–$s7` salvados</a:t>
            </a:r>
          </a:p>
          <a:p>
            <a:pPr marL="182880" indent="-182880">
              <a:lnSpc>
                <a:spcPct val="110000"/>
              </a:lnSpc>
              <a:spcAft>
                <a:spcPts val="700"/>
              </a:spcAft>
            </a:pPr>
            <a:r>
              <a:rPr sz="1050" b="0" i="0">
                <a:solidFill>
                  <a:srgbClr val="404040"/>
                </a:solidFill>
              </a:rPr>
              <a:t>•  `$ra` retorno · `$sp` pila · `$fp` marco</a:t>
            </a:r>
          </a:p>
          <a:p>
            <a:pPr marL="182880" indent="-182880">
              <a:lnSpc>
                <a:spcPct val="110000"/>
              </a:lnSpc>
              <a:spcAft>
                <a:spcPts val="700"/>
              </a:spcAft>
            </a:pPr>
            <a:r>
              <a:rPr sz="1050" b="0" i="0">
                <a:solidFill>
                  <a:srgbClr val="404040"/>
                </a:solidFill>
              </a:rPr>
              <a:t>•  ISA </a:t>
            </a:r>
            <a:r>
              <a:rPr sz="1050" b="1" i="0">
                <a:solidFill>
                  <a:srgbClr val="404040"/>
                </a:solidFill>
              </a:rPr>
              <a:t>load/store</a:t>
            </a:r>
            <a:r>
              <a:rPr sz="1050" b="0" i="0">
                <a:solidFill>
                  <a:srgbClr val="404040"/>
                </a:solidFill>
              </a:rPr>
              <a:t>: la aritmetica solo vive en registros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4160520"/>
            <a:ext cx="8138160" cy="685800"/>
          </a:xfrm>
          <a:prstGeom prst="roundRect">
            <a:avLst>
              <a:gd name="adj" fmla="val 8000"/>
            </a:avLst>
          </a:prstGeom>
          <a:solidFill>
            <a:srgbClr val="DCE6F1"/>
          </a:solidFill>
          <a:ln w="1270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36576" bIns="36576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1F497D"/>
                </a:solidFill>
                <a:latin typeface="Consolas"/>
              </a:rPr>
              <a:t>`Registros.escribir(indice, valor)`  -&gt;  si `indice == 0` la escritura se descarta; `Registros.leer(0)` devuelve siempre 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400" b="1" i="0">
                <a:solidFill>
                  <a:srgbClr val="1F497D"/>
                </a:solidFill>
                <a:latin typeface="Gill Sans MT"/>
              </a:rPr>
              <a:t>PC - Contador de programa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600200"/>
            <a:ext cx="868680" cy="502920"/>
          </a:xfrm>
          <a:prstGeom prst="rect">
            <a:avLst/>
          </a:prstGeom>
          <a:solidFill>
            <a:srgbClr val="DCE6F1"/>
          </a:solidFill>
          <a:ln w="1270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F497D"/>
                </a:solidFill>
                <a:latin typeface="Consolas"/>
              </a:rPr>
              <a:t>PC = 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536192" y="1851660"/>
            <a:ext cx="356616" cy="0"/>
          </a:xfrm>
          <a:prstGeom prst="line">
            <a:avLst/>
          </a:prstGeom>
          <a:ln w="19050">
            <a:solidFill>
              <a:srgbClr val="4F81B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1920240" y="1600200"/>
            <a:ext cx="868680" cy="502920"/>
          </a:xfrm>
          <a:prstGeom prst="rect">
            <a:avLst/>
          </a:prstGeom>
          <a:solidFill>
            <a:srgbClr val="DCE6F1"/>
          </a:solidFill>
          <a:ln w="1270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F497D"/>
                </a:solidFill>
                <a:latin typeface="Consolas"/>
              </a:rPr>
              <a:t>PC = 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16352" y="1851660"/>
            <a:ext cx="356616" cy="0"/>
          </a:xfrm>
          <a:prstGeom prst="line">
            <a:avLst/>
          </a:prstGeom>
          <a:ln w="19050">
            <a:solidFill>
              <a:srgbClr val="4F81B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200400" y="1600200"/>
            <a:ext cx="868680" cy="502920"/>
          </a:xfrm>
          <a:prstGeom prst="rect">
            <a:avLst/>
          </a:prstGeom>
          <a:solidFill>
            <a:srgbClr val="DCE6F1"/>
          </a:solidFill>
          <a:ln w="1270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F497D"/>
                </a:solidFill>
                <a:latin typeface="Consolas"/>
              </a:rPr>
              <a:t>PC = 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096512" y="1851660"/>
            <a:ext cx="356616" cy="0"/>
          </a:xfrm>
          <a:prstGeom prst="line">
            <a:avLst/>
          </a:prstGeom>
          <a:ln w="19050">
            <a:solidFill>
              <a:srgbClr val="4F81B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4480560" y="1600200"/>
            <a:ext cx="868680" cy="502920"/>
          </a:xfrm>
          <a:prstGeom prst="rect">
            <a:avLst/>
          </a:prstGeom>
          <a:solidFill>
            <a:srgbClr val="DCE6F1"/>
          </a:solidFill>
          <a:ln w="1270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F497D"/>
                </a:solidFill>
                <a:latin typeface="Consolas"/>
              </a:rPr>
              <a:t>PC = 3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376672" y="1851660"/>
            <a:ext cx="356616" cy="0"/>
          </a:xfrm>
          <a:prstGeom prst="line">
            <a:avLst/>
          </a:prstGeom>
          <a:ln w="19050">
            <a:solidFill>
              <a:srgbClr val="4F81B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5760720" y="1600200"/>
            <a:ext cx="868680" cy="502920"/>
          </a:xfrm>
          <a:prstGeom prst="rect">
            <a:avLst/>
          </a:prstGeom>
          <a:solidFill>
            <a:srgbClr val="DCE6F1"/>
          </a:solidFill>
          <a:ln w="1270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F497D"/>
                </a:solidFill>
                <a:latin typeface="Consolas"/>
              </a:rPr>
              <a:t>PC = 4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95060" y="2130552"/>
            <a:ext cx="0" cy="475488"/>
          </a:xfrm>
          <a:prstGeom prst="line">
            <a:avLst/>
          </a:prstGeom>
          <a:ln w="19050">
            <a:solidFill>
              <a:srgbClr val="C0504D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2354580" y="2606040"/>
            <a:ext cx="3840480" cy="0"/>
          </a:xfrm>
          <a:prstGeom prst="line">
            <a:avLst/>
          </a:prstGeom>
          <a:ln w="19050">
            <a:solidFill>
              <a:srgbClr val="C0504D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2354580" y="2167128"/>
            <a:ext cx="0" cy="438912"/>
          </a:xfrm>
          <a:prstGeom prst="line">
            <a:avLst/>
          </a:prstGeom>
          <a:ln w="19050">
            <a:solidFill>
              <a:srgbClr val="C050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206240" y="267004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C0504D"/>
                </a:solidFill>
              </a:rPr>
              <a:t>beq / bne / j / jal / jr escriben otra direccion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154680"/>
            <a:ext cx="8138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9456" indent="-219456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404040"/>
                </a:solidFill>
              </a:rPr>
              <a:t>•  Registro de </a:t>
            </a:r>
            <a:r>
              <a:rPr sz="1250" b="1" i="0">
                <a:solidFill>
                  <a:srgbClr val="404040"/>
                </a:solidFill>
              </a:rPr>
              <a:t>32 bits</a:t>
            </a:r>
            <a:r>
              <a:rPr sz="1250" b="0" i="0">
                <a:solidFill>
                  <a:srgbClr val="404040"/>
                </a:solidFill>
              </a:rPr>
              <a:t>: guarda la direccion de la </a:t>
            </a:r>
            <a:r>
              <a:rPr sz="1250" b="1" i="0">
                <a:solidFill>
                  <a:srgbClr val="404040"/>
                </a:solidFill>
              </a:rPr>
              <a:t>siguiente</a:t>
            </a:r>
            <a:r>
              <a:rPr sz="1250" b="0" i="0">
                <a:solidFill>
                  <a:srgbClr val="404040"/>
                </a:solidFill>
              </a:rPr>
              <a:t> instruccion</a:t>
            </a:r>
          </a:p>
          <a:p>
            <a:pPr marL="219456" indent="-219456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404040"/>
                </a:solidFill>
              </a:rPr>
              <a:t>•  Se incrementa en cada busqueda; en nuestro emulador </a:t>
            </a:r>
            <a:r>
              <a:rPr sz="1250" b="1" i="0">
                <a:solidFill>
                  <a:srgbClr val="404040"/>
                </a:solidFill>
              </a:rPr>
              <a:t>+1 celda</a:t>
            </a:r>
            <a:r>
              <a:rPr sz="1250" b="0" i="0">
                <a:solidFill>
                  <a:srgbClr val="404040"/>
                </a:solidFill>
              </a:rPr>
              <a:t> (en un MIPS real serian +4 bytes)</a:t>
            </a:r>
          </a:p>
          <a:p>
            <a:pPr marL="219456" indent="-219456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404040"/>
                </a:solidFill>
              </a:rPr>
              <a:t>•  Arranca en </a:t>
            </a:r>
            <a:r>
              <a:rPr sz="1250" b="1" i="0">
                <a:solidFill>
                  <a:srgbClr val="404040"/>
                </a:solidFill>
              </a:rPr>
              <a:t>0</a:t>
            </a:r>
            <a:r>
              <a:rPr sz="1250" b="0" i="0">
                <a:solidFill>
                  <a:srgbClr val="404040"/>
                </a:solidFill>
              </a:rPr>
              <a:t> al encender o reiniciar (`PC.reiniciar()`)</a:t>
            </a:r>
          </a:p>
          <a:p>
            <a:pPr marL="219456" indent="-219456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404040"/>
                </a:solidFill>
              </a:rPr>
              <a:t>•  </a:t>
            </a:r>
            <a:r>
              <a:rPr sz="1250" b="1" i="0">
                <a:solidFill>
                  <a:srgbClr val="404040"/>
                </a:solidFill>
              </a:rPr>
              <a:t>Circular</a:t>
            </a:r>
            <a:r>
              <a:rPr sz="1250" b="0" i="0">
                <a:solidFill>
                  <a:srgbClr val="404040"/>
                </a:solidFill>
              </a:rPr>
              <a:t>: si la direccion se sale del mapa (300) vuelve a 0  -&gt;  la CPU nunca muere</a:t>
            </a:r>
          </a:p>
          <a:p>
            <a:pPr marL="219456" indent="-219456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404040"/>
                </a:solidFill>
              </a:rPr>
              <a:t>•  Codigo: `src/cpu/PC.java` y `CPU.etapaBusqueda()`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400" b="1" i="0">
                <a:solidFill>
                  <a:srgbClr val="1F497D"/>
                </a:solidFill>
                <a:latin typeface="Gill Sans MT"/>
              </a:rPr>
              <a:t>Ciclo de instruccion: 5 etapas</a:t>
            </a:r>
          </a:p>
        </p:txBody>
      </p:sp>
      <p:sp>
        <p:nvSpPr>
          <p:cNvPr id="3" name="Chevron 2"/>
          <p:cNvSpPr/>
          <p:nvPr/>
        </p:nvSpPr>
        <p:spPr>
          <a:xfrm>
            <a:off x="502920" y="1417320"/>
            <a:ext cx="1828800" cy="658368"/>
          </a:xfrm>
          <a:prstGeom prst="chevron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</a:rPr>
              <a:t>IF</a:t>
            </a:r>
          </a:p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DCE6F1"/>
                </a:solidFill>
              </a:rPr>
              <a:t>Buscar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212848"/>
            <a:ext cx="1481328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404040"/>
                </a:solidFill>
              </a:rPr>
              <a:t>instruccion = ROM[PC]  ·  PC = PC + 1</a:t>
            </a:r>
          </a:p>
        </p:txBody>
      </p:sp>
      <p:sp>
        <p:nvSpPr>
          <p:cNvPr id="5" name="Chevron 4"/>
          <p:cNvSpPr/>
          <p:nvPr/>
        </p:nvSpPr>
        <p:spPr>
          <a:xfrm>
            <a:off x="2093976" y="1417320"/>
            <a:ext cx="1828800" cy="658368"/>
          </a:xfrm>
          <a:prstGeom prst="chevron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</a:rPr>
              <a:t>ID</a:t>
            </a:r>
          </a:p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DCE6F1"/>
                </a:solidFill>
              </a:rPr>
              <a:t>Decodificar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85416" y="2212848"/>
            <a:ext cx="1481328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404040"/>
                </a:solidFill>
              </a:rPr>
              <a:t>Decodificador separa campos  ·  Unidad de Control -&gt; senales</a:t>
            </a:r>
          </a:p>
        </p:txBody>
      </p:sp>
      <p:sp>
        <p:nvSpPr>
          <p:cNvPr id="7" name="Chevron 6"/>
          <p:cNvSpPr/>
          <p:nvPr/>
        </p:nvSpPr>
        <p:spPr>
          <a:xfrm>
            <a:off x="3685032" y="1417320"/>
            <a:ext cx="1828800" cy="658368"/>
          </a:xfrm>
          <a:prstGeom prst="chevron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</a:rPr>
              <a:t>EX</a:t>
            </a:r>
          </a:p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DCE6F1"/>
                </a:solidFill>
              </a:rPr>
              <a:t>Ejecutar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76472" y="2212848"/>
            <a:ext cx="1481328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404040"/>
                </a:solidFill>
              </a:rPr>
              <a:t>La ALU calcula  ·  se resuelven ramas y saltos</a:t>
            </a:r>
          </a:p>
        </p:txBody>
      </p:sp>
      <p:sp>
        <p:nvSpPr>
          <p:cNvPr id="9" name="Chevron 8"/>
          <p:cNvSpPr/>
          <p:nvPr/>
        </p:nvSpPr>
        <p:spPr>
          <a:xfrm>
            <a:off x="5276088" y="1417320"/>
            <a:ext cx="1828800" cy="658368"/>
          </a:xfrm>
          <a:prstGeom prst="chevron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</a:rPr>
              <a:t>MEM</a:t>
            </a:r>
          </a:p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DCE6F1"/>
                </a:solidFill>
              </a:rPr>
              <a:t>Memoria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67528" y="2212848"/>
            <a:ext cx="1481328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404040"/>
                </a:solidFill>
              </a:rPr>
              <a:t>lw lee · sw escribe  ·  en MemoriaSistema</a:t>
            </a:r>
          </a:p>
        </p:txBody>
      </p:sp>
      <p:sp>
        <p:nvSpPr>
          <p:cNvPr id="11" name="Chevron 10"/>
          <p:cNvSpPr/>
          <p:nvPr/>
        </p:nvSpPr>
        <p:spPr>
          <a:xfrm>
            <a:off x="6867144" y="1417320"/>
            <a:ext cx="1828800" cy="658368"/>
          </a:xfrm>
          <a:prstGeom prst="chevron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</a:rPr>
              <a:t>WB</a:t>
            </a:r>
          </a:p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DCE6F1"/>
                </a:solidFill>
              </a:rPr>
              <a:t>Escribir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58584" y="2212848"/>
            <a:ext cx="1481328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404040"/>
                </a:solidFill>
              </a:rPr>
              <a:t>Llega el resultado  ·  al registro destino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429000"/>
            <a:ext cx="8138160" cy="658368"/>
          </a:xfrm>
          <a:prstGeom prst="roundRect">
            <a:avLst>
              <a:gd name="adj" fmla="val 8000"/>
            </a:avLst>
          </a:prstGeom>
          <a:solidFill>
            <a:srgbClr val="DCE6F1"/>
          </a:solidFill>
          <a:ln w="1270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36576" bIns="36576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300" b="0" i="0">
                <a:solidFill>
                  <a:srgbClr val="1F497D"/>
                </a:solidFill>
              </a:rPr>
              <a:t>Todo lo que hace un procesador = </a:t>
            </a:r>
            <a:r>
              <a:rPr sz="1300" b="1" i="0">
                <a:solidFill>
                  <a:srgbClr val="1F497D"/>
                </a:solidFill>
              </a:rPr>
              <a:t>repetir este ciclo</a:t>
            </a:r>
            <a:r>
              <a:rPr sz="1300" b="0" i="0">
                <a:solidFill>
                  <a:srgbClr val="1F497D"/>
                </a:solidFill>
              </a:rPr>
              <a:t>: `CPU.ciclo()` recorre IF -&gt; ID -&gt; EX -&gt; MEM -&gt; WB y suma 1 al contador de ciclos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000" b="1" i="0">
                <a:solidFill>
                  <a:srgbClr val="1F497D"/>
                </a:solidFill>
                <a:latin typeface="Gill Sans MT"/>
              </a:rPr>
              <a:t>Diagrama de clases del nucleo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pPr algn="l" marL="237744" indent="-237744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404040"/>
                </a:solidFill>
              </a:rPr>
              <a:t>22 clases · 5 paquetes · sin librerias externas   |   docs/diagramas/diagrama_clases_nucleo.png</a:t>
            </a:r>
          </a:p>
        </p:txBody>
      </p:sp>
      <p:pic>
        <p:nvPicPr>
          <p:cNvPr id="5" name="Picture 4" descr="diagrama_clases_nucle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6184" y="932192"/>
            <a:ext cx="5573094" cy="291937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ctr"/>
            <a:r>
              <a:rPr sz="2600" b="1" i="0">
                <a:solidFill>
                  <a:srgbClr val="1F497D"/>
                </a:solidFill>
                <a:latin typeface="Gill Sans MT"/>
              </a:rPr>
              <a:t>ISA del procesador y pruebas tecnicas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ctr" marL="237744" indent="-237744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4F81BD"/>
                </a:solidFill>
              </a:rPr>
              <a:t>formatos · instrucciones · ALU · syscall · 201 pruebas     min. 16 –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66160" y="960120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DCE6F1"/>
                </a:solidFill>
              </a:rPr>
              <a:t>03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400" b="1" i="0">
                <a:solidFill>
                  <a:srgbClr val="1F497D"/>
                </a:solidFill>
                <a:latin typeface="Gill Sans MT"/>
              </a:rPr>
              <a:t>La ISA es el contrato del procesador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l" marL="237744" indent="-237744">
              <a:lnSpc>
                <a:spcPct val="115000"/>
              </a:lnSpc>
              <a:spcAft>
                <a:spcPts val="1100"/>
              </a:spcAft>
            </a:pPr>
            <a:r>
              <a:rPr sz="1500" b="0" i="0">
                <a:solidFill>
                  <a:srgbClr val="404040"/>
                </a:solidFill>
              </a:rPr>
              <a:t>•</a:t>
            </a:r>
            <a:r>
              <a:rPr sz="1500" b="1" i="0">
                <a:solidFill>
                  <a:srgbClr val="404040"/>
                </a:solidFill>
              </a:rPr>
              <a:t>Interfaz</a:t>
            </a:r>
            <a:r>
              <a:rPr sz="1500" b="0" i="0">
                <a:solidFill>
                  <a:srgbClr val="404040"/>
                </a:solidFill>
              </a:rPr>
              <a:t> entre el software y el hardware: que puede hacer la CPU</a:t>
            </a:r>
          </a:p>
          <a:p>
            <a:pPr algn="l" marL="237744" indent="-237744">
              <a:lnSpc>
                <a:spcPct val="115000"/>
              </a:lnSpc>
              <a:spcAft>
                <a:spcPts val="1100"/>
              </a:spcAft>
            </a:pPr>
            <a:r>
              <a:rPr sz="1500" b="0" i="0">
                <a:solidFill>
                  <a:srgbClr val="404040"/>
                </a:solidFill>
              </a:rPr>
              <a:t>•Define tres cosas: </a:t>
            </a:r>
            <a:r>
              <a:rPr sz="1500" b="1" i="0">
                <a:solidFill>
                  <a:srgbClr val="404040"/>
                </a:solidFill>
              </a:rPr>
              <a:t>conjunto de instrucciones</a:t>
            </a:r>
            <a:r>
              <a:rPr sz="1500" b="0" i="0">
                <a:solidFill>
                  <a:srgbClr val="404040"/>
                </a:solidFill>
              </a:rPr>
              <a:t>, </a:t>
            </a:r>
            <a:r>
              <a:rPr sz="1500" b="1" i="0">
                <a:solidFill>
                  <a:srgbClr val="404040"/>
                </a:solidFill>
              </a:rPr>
              <a:t>registros</a:t>
            </a:r>
            <a:r>
              <a:rPr sz="1500" b="0" i="0">
                <a:solidFill>
                  <a:srgbClr val="404040"/>
                </a:solidFill>
              </a:rPr>
              <a:t> y </a:t>
            </a:r>
            <a:r>
              <a:rPr sz="1500" b="1" i="0">
                <a:solidFill>
                  <a:srgbClr val="404040"/>
                </a:solidFill>
              </a:rPr>
              <a:t>modos de direccionamiento</a:t>
            </a:r>
          </a:p>
          <a:p>
            <a:pPr algn="l" marL="237744" indent="-237744">
              <a:lnSpc>
                <a:spcPct val="115000"/>
              </a:lnSpc>
              <a:spcAft>
                <a:spcPts val="1100"/>
              </a:spcAft>
            </a:pPr>
            <a:r>
              <a:rPr sz="1500" b="0" i="0">
                <a:solidFill>
                  <a:srgbClr val="404040"/>
                </a:solidFill>
              </a:rPr>
              <a:t>•Programa  -&gt;  compilador / ensamblador  -&gt;  </a:t>
            </a:r>
            <a:r>
              <a:rPr sz="1500" b="1" i="0">
                <a:solidFill>
                  <a:srgbClr val="404040"/>
                </a:solidFill>
              </a:rPr>
              <a:t>ISA</a:t>
            </a:r>
            <a:r>
              <a:rPr sz="1500" b="0" i="0">
                <a:solidFill>
                  <a:srgbClr val="404040"/>
                </a:solidFill>
              </a:rPr>
              <a:t>  -&gt;  microarquitectura  -&gt;  circuitos</a:t>
            </a:r>
          </a:p>
          <a:p>
            <a:pPr algn="l" marL="237744" indent="-237744">
              <a:lnSpc>
                <a:spcPct val="115000"/>
              </a:lnSpc>
              <a:spcAft>
                <a:spcPts val="1100"/>
              </a:spcAft>
            </a:pPr>
            <a:r>
              <a:rPr sz="1500" b="0" i="0">
                <a:solidFill>
                  <a:srgbClr val="404040"/>
                </a:solidFill>
              </a:rPr>
              <a:t>•“Quien controla la ISA, controla que se puede construir sobre ella”</a:t>
            </a:r>
          </a:p>
          <a:p>
            <a:pPr algn="l" marL="237744" indent="-237744">
              <a:lnSpc>
                <a:spcPct val="115000"/>
              </a:lnSpc>
              <a:spcAft>
                <a:spcPts val="1100"/>
              </a:spcAft>
            </a:pPr>
            <a:r>
              <a:rPr sz="1500" b="0" i="0">
                <a:solidFill>
                  <a:srgbClr val="404040"/>
                </a:solidFill>
              </a:rPr>
              <a:t>•MIPS: especificacion </a:t>
            </a:r>
            <a:r>
              <a:rPr sz="1500" b="1" i="0">
                <a:solidFill>
                  <a:srgbClr val="404040"/>
                </a:solidFill>
              </a:rPr>
              <a:t>disponible</a:t>
            </a:r>
            <a:r>
              <a:rPr sz="1500" b="0" i="0">
                <a:solidFill>
                  <a:srgbClr val="404040"/>
                </a:solidFill>
              </a:rPr>
              <a:t> y formatos fijos  -&gt;  la implementamos completa</a:t>
            </a:r>
          </a:p>
          <a:p>
            <a:pPr algn="l" marL="237744" indent="-237744">
              <a:lnSpc>
                <a:spcPct val="115000"/>
              </a:lnSpc>
              <a:spcAft>
                <a:spcPts val="1100"/>
              </a:spcAft>
            </a:pPr>
            <a:r>
              <a:rPr sz="1500" b="0" i="0">
                <a:solidFill>
                  <a:srgbClr val="404040"/>
                </a:solidFill>
              </a:rPr>
              <a:t>•En el codigo: `Opcode`, `Funct`, `FormatoInstruccion` (paquete `instruccion`)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400" b="1" i="0">
                <a:solidFill>
                  <a:srgbClr val="1F497D"/>
                </a:solidFill>
                <a:latin typeface="Gill Sans MT"/>
              </a:rPr>
              <a:t>Una instruccion = una palabra de 32 bits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53896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F497D"/>
                </a:solidFill>
              </a:rPr>
              <a:t>Formato R</a:t>
            </a:r>
          </a:p>
        </p:txBody>
      </p:sp>
      <p:sp>
        <p:nvSpPr>
          <p:cNvPr id="4" name="Rectangle 3"/>
          <p:cNvSpPr/>
          <p:nvPr/>
        </p:nvSpPr>
        <p:spPr>
          <a:xfrm>
            <a:off x="1783080" y="1325880"/>
            <a:ext cx="1268730" cy="530352"/>
          </a:xfrm>
          <a:prstGeom prst="rect">
            <a:avLst/>
          </a:prstGeom>
          <a:solidFill>
            <a:srgbClr val="1F497D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0000"/>
              </a:lnSpc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1783080" y="1389888"/>
            <a:ext cx="126873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FFFFFF"/>
                </a:solidFill>
              </a:rPr>
              <a:t>opcode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591056"/>
            <a:ext cx="126873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 i="0">
                <a:solidFill>
                  <a:srgbClr val="DCE6F1"/>
                </a:solidFill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3051810" y="1325880"/>
            <a:ext cx="1057275" cy="530352"/>
          </a:xfrm>
          <a:prstGeom prst="rect">
            <a:avLst/>
          </a:prstGeom>
          <a:solidFill>
            <a:srgbClr val="DCE6F1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0000"/>
              </a:lnSpc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3051810" y="1389888"/>
            <a:ext cx="105727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1F497D"/>
                </a:solidFill>
              </a:rPr>
              <a:t>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51810" y="1591056"/>
            <a:ext cx="105727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 i="0">
                <a:solidFill>
                  <a:srgbClr val="404040"/>
                </a:solidFill>
              </a:rPr>
              <a:t>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09085" y="1325880"/>
            <a:ext cx="1057275" cy="530352"/>
          </a:xfrm>
          <a:prstGeom prst="rect">
            <a:avLst/>
          </a:prstGeom>
          <a:solidFill>
            <a:srgbClr val="DCE6F1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0000"/>
              </a:lnSpc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109085" y="1389888"/>
            <a:ext cx="105727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1F497D"/>
                </a:solidFill>
              </a:rPr>
              <a:t>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09085" y="1591056"/>
            <a:ext cx="105727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 i="0">
                <a:solidFill>
                  <a:srgbClr val="404040"/>
                </a:solidFill>
              </a:rPr>
              <a:t>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66360" y="1325880"/>
            <a:ext cx="1057275" cy="530352"/>
          </a:xfrm>
          <a:prstGeom prst="rect">
            <a:avLst/>
          </a:prstGeom>
          <a:solidFill>
            <a:srgbClr val="DCE6F1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0000"/>
              </a:lnSpc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5166360" y="1389888"/>
            <a:ext cx="105727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1F497D"/>
                </a:solidFill>
              </a:rPr>
              <a:t>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1591056"/>
            <a:ext cx="105727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 i="0">
                <a:solidFill>
                  <a:srgbClr val="404040"/>
                </a:solidFill>
              </a:rPr>
              <a:t>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23635" y="1325880"/>
            <a:ext cx="1057275" cy="530352"/>
          </a:xfrm>
          <a:prstGeom prst="rect">
            <a:avLst/>
          </a:prstGeom>
          <a:solidFill>
            <a:srgbClr val="DCE6F1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0000"/>
              </a:lnSpc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6223635" y="1389888"/>
            <a:ext cx="105727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1F497D"/>
                </a:solidFill>
              </a:rPr>
              <a:t>shamt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23635" y="1591056"/>
            <a:ext cx="105727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 i="0">
                <a:solidFill>
                  <a:srgbClr val="404040"/>
                </a:solidFill>
              </a:rPr>
              <a:t>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80910" y="1325880"/>
            <a:ext cx="1268730" cy="530352"/>
          </a:xfrm>
          <a:prstGeom prst="rect">
            <a:avLst/>
          </a:prstGeom>
          <a:solidFill>
            <a:srgbClr val="DCE6F1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0000"/>
              </a:lnSpc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7280910" y="1389888"/>
            <a:ext cx="126873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1F497D"/>
                </a:solidFill>
              </a:rPr>
              <a:t>funct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80910" y="1591056"/>
            <a:ext cx="126873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 i="0">
                <a:solidFill>
                  <a:srgbClr val="404040"/>
                </a:solidFill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240280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F497D"/>
                </a:solidFill>
              </a:rPr>
              <a:t>Formato 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83080" y="2112264"/>
            <a:ext cx="1268730" cy="530352"/>
          </a:xfrm>
          <a:prstGeom prst="rect">
            <a:avLst/>
          </a:prstGeom>
          <a:solidFill>
            <a:srgbClr val="1F497D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0000"/>
              </a:lnSpc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1783080" y="2176272"/>
            <a:ext cx="126873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FFFFFF"/>
                </a:solidFill>
              </a:rPr>
              <a:t>opcode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" y="2377440"/>
            <a:ext cx="126873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 i="0">
                <a:solidFill>
                  <a:srgbClr val="DCE6F1"/>
                </a:solidFill>
              </a:rPr>
              <a:t>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51810" y="2112264"/>
            <a:ext cx="1057275" cy="530352"/>
          </a:xfrm>
          <a:prstGeom prst="rect">
            <a:avLst/>
          </a:prstGeom>
          <a:solidFill>
            <a:srgbClr val="DCE6F1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0000"/>
              </a:lnSpc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3051810" y="2176272"/>
            <a:ext cx="105727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1F497D"/>
                </a:solidFill>
              </a:rPr>
              <a:t>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51810" y="2377440"/>
            <a:ext cx="105727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 i="0">
                <a:solidFill>
                  <a:srgbClr val="404040"/>
                </a:solidFill>
              </a:rPr>
              <a:t>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09085" y="2112264"/>
            <a:ext cx="1057275" cy="530352"/>
          </a:xfrm>
          <a:prstGeom prst="rect">
            <a:avLst/>
          </a:prstGeom>
          <a:solidFill>
            <a:srgbClr val="DCE6F1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0000"/>
              </a:lnSpc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4109085" y="2176272"/>
            <a:ext cx="105727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1F497D"/>
                </a:solidFill>
              </a:rPr>
              <a:t>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09085" y="2377440"/>
            <a:ext cx="105727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 i="0">
                <a:solidFill>
                  <a:srgbClr val="404040"/>
                </a:solidFill>
              </a:rPr>
              <a:t>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66360" y="2112264"/>
            <a:ext cx="3383280" cy="530352"/>
          </a:xfrm>
          <a:prstGeom prst="rect">
            <a:avLst/>
          </a:prstGeom>
          <a:solidFill>
            <a:srgbClr val="DCE6F1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0000"/>
              </a:lnSpc>
            </a:pPr>
          </a:p>
        </p:txBody>
      </p:sp>
      <p:sp>
        <p:nvSpPr>
          <p:cNvPr id="33" name="TextBox 32"/>
          <p:cNvSpPr txBox="1"/>
          <p:nvPr/>
        </p:nvSpPr>
        <p:spPr>
          <a:xfrm>
            <a:off x="5166360" y="2176272"/>
            <a:ext cx="3383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1F497D"/>
                </a:solidFill>
              </a:rPr>
              <a:t>inmediato 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66360" y="2377440"/>
            <a:ext cx="3383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 i="0">
                <a:solidFill>
                  <a:srgbClr val="404040"/>
                </a:solidFill>
              </a:rPr>
              <a:t>16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3026664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F497D"/>
                </a:solidFill>
              </a:rPr>
              <a:t>Formato J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783080" y="2898648"/>
            <a:ext cx="1268730" cy="530352"/>
          </a:xfrm>
          <a:prstGeom prst="rect">
            <a:avLst/>
          </a:prstGeom>
          <a:solidFill>
            <a:srgbClr val="1F497D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0000"/>
              </a:lnSpc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1783080" y="2962656"/>
            <a:ext cx="126873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FFFFFF"/>
                </a:solidFill>
              </a:rPr>
              <a:t>opcode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83080" y="3163824"/>
            <a:ext cx="126873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 i="0">
                <a:solidFill>
                  <a:srgbClr val="DCE6F1"/>
                </a:solidFill>
              </a:rPr>
              <a:t>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051810" y="2898648"/>
            <a:ext cx="5497830" cy="530352"/>
          </a:xfrm>
          <a:prstGeom prst="rect">
            <a:avLst/>
          </a:prstGeom>
          <a:solidFill>
            <a:srgbClr val="DCE6F1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0000"/>
              </a:lnSpc>
            </a:pPr>
          </a:p>
        </p:txBody>
      </p:sp>
      <p:sp>
        <p:nvSpPr>
          <p:cNvPr id="40" name="TextBox 39"/>
          <p:cNvSpPr txBox="1"/>
          <p:nvPr/>
        </p:nvSpPr>
        <p:spPr>
          <a:xfrm>
            <a:off x="3051810" y="2962656"/>
            <a:ext cx="549783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1F497D"/>
                </a:solidFill>
              </a:rPr>
              <a:t>direccion 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51810" y="3163824"/>
            <a:ext cx="549783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 i="0">
                <a:solidFill>
                  <a:srgbClr val="404040"/>
                </a:solidFill>
              </a:rPr>
              <a:t>26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3703320"/>
            <a:ext cx="8138160" cy="96012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 w="1270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36576" bIns="36576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404040"/>
                </a:solidFill>
              </a:rPr>
              <a:t>opcode = bits </a:t>
            </a:r>
            <a:r>
              <a:rPr sz="1200" b="1" i="0">
                <a:solidFill>
                  <a:srgbClr val="404040"/>
                </a:solidFill>
              </a:rPr>
              <a:t>31..26</a:t>
            </a:r>
            <a:r>
              <a:rPr sz="1200" b="0" i="0">
                <a:solidFill>
                  <a:srgbClr val="404040"/>
                </a:solidFill>
              </a:rPr>
              <a:t>  -&gt;  `Decodificador.opcode(palabra)` = `(palabra &gt;&gt;&gt; 26) &amp; 0x3F`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404040"/>
                </a:solidFill>
              </a:rPr>
              <a:t>Ejemplo  `addi $t0, $zero, 5`  -&gt;  </a:t>
            </a:r>
            <a:r>
              <a:rPr sz="1200" b="1" i="0">
                <a:solidFill>
                  <a:srgbClr val="404040"/>
                </a:solidFill>
              </a:rPr>
              <a:t>001000 00000 01000 0000000000000101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404040"/>
                </a:solidFill>
              </a:rPr>
              <a:t>Codigo: `src/instruccion/Decodificador.java` y `Instruccion.codificarR/I/J`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400" b="1" i="0">
                <a:solidFill>
                  <a:srgbClr val="1F497D"/>
                </a:solidFill>
                <a:latin typeface="Gill Sans MT"/>
              </a:rPr>
              <a:t>ISA implementada: 33 instrucciones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280160"/>
          <a:ext cx="81381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828800"/>
                <a:gridCol w="4251960"/>
                <a:gridCol w="914400"/>
              </a:tblGrid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</a:rPr>
                        <a:t>Formato</a:t>
                      </a:r>
                    </a:p>
                  </a:txBody>
                  <a:tcPr marL="64008" marR="54864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</a:rPr>
                        <a:t>Opcode</a:t>
                      </a:r>
                    </a:p>
                  </a:txBody>
                  <a:tcPr marL="64008" marR="54864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</a:rPr>
                        <a:t>Instrucciones</a:t>
                      </a:r>
                    </a:p>
                  </a:txBody>
                  <a:tcPr marL="64008" marR="54864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64008" marR="54864" marT="27432" marB="27432" anchor="ctr">
                    <a:solidFill>
                      <a:srgbClr val="1F497D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404040"/>
                          </a:solidFill>
                        </a:rPr>
                        <a:t>R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404040"/>
                          </a:solidFill>
                        </a:rPr>
                        <a:t>0x00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404040"/>
                          </a:solidFill>
                        </a:rPr>
                        <a:t>add addu sub subu and or xor nor slt sltu sll srl mult div mfhi mflo jr syscall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404040"/>
                          </a:solidFill>
                        </a:rPr>
                        <a:t>18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404040"/>
                          </a:solidFill>
                        </a:rPr>
                        <a:t>I</a:t>
                      </a:r>
                    </a:p>
                  </a:txBody>
                  <a:tcPr marL="64008" marR="54864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404040"/>
                          </a:solidFill>
                        </a:rPr>
                        <a:t>0x04, 0x05, 0x08 – 0x0F, 0x23, 0x2B</a:t>
                      </a:r>
                    </a:p>
                  </a:txBody>
                  <a:tcPr marL="64008" marR="54864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404040"/>
                          </a:solidFill>
                        </a:rPr>
                        <a:t>beq bne addi addiu slti sltiu andi ori xori lui lw sw</a:t>
                      </a:r>
                    </a:p>
                  </a:txBody>
                  <a:tcPr marL="64008" marR="54864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404040"/>
                          </a:solidFill>
                        </a:rPr>
                        <a:t>12</a:t>
                      </a:r>
                    </a:p>
                  </a:txBody>
                  <a:tcPr marL="64008" marR="54864" marT="27432" marB="27432" anchor="ctr">
                    <a:solidFill>
                      <a:srgbClr val="F3F6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404040"/>
                          </a:solidFill>
                        </a:rPr>
                        <a:t>J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404040"/>
                          </a:solidFill>
                        </a:rPr>
                        <a:t>0x02, 0x03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404040"/>
                          </a:solidFill>
                        </a:rPr>
                        <a:t>j  jal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404040"/>
                          </a:solidFill>
                        </a:rPr>
                        <a:t>2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404040"/>
                          </a:solidFill>
                        </a:rPr>
                        <a:t>Emulador</a:t>
                      </a:r>
                    </a:p>
                  </a:txBody>
                  <a:tcPr marL="64008" marR="54864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404040"/>
                          </a:solidFill>
                        </a:rPr>
                        <a:t>0x3F</a:t>
                      </a:r>
                    </a:p>
                  </a:txBody>
                  <a:tcPr marL="64008" marR="54864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404040"/>
                          </a:solidFill>
                        </a:rPr>
                        <a:t>halt  (operacion de parada propia)</a:t>
                      </a:r>
                    </a:p>
                  </a:txBody>
                  <a:tcPr marL="64008" marR="54864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404040"/>
                          </a:solidFill>
                        </a:rPr>
                        <a:t>1</a:t>
                      </a:r>
                    </a:p>
                  </a:txBody>
                  <a:tcPr marL="64008" marR="54864" marT="27432" marB="27432" anchor="ctr"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3977640"/>
            <a:ext cx="8138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4F81BD"/>
                </a:solidFill>
              </a:rPr>
              <a:t>En formato R el opcode vale 0 y la operacion concreta la decide el campo </a:t>
            </a:r>
            <a:r>
              <a:rPr sz="1200" b="1" i="0">
                <a:solidFill>
                  <a:srgbClr val="4F81BD"/>
                </a:solidFill>
              </a:rPr>
              <a:t>funct</a:t>
            </a:r>
            <a:r>
              <a:rPr sz="1200" b="0" i="0">
                <a:solidFill>
                  <a:srgbClr val="4F81BD"/>
                </a:solidFill>
              </a:rPr>
              <a:t> (6 bits).   Lista completa: `docs/instrucciones.md`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 marL="237744" indent="-237744">
              <a:lnSpc>
                <a:spcPct val="115000"/>
              </a:lnSpc>
              <a:spcAft>
                <a:spcPts val="800"/>
              </a:spcAft>
            </a:pPr>
            <a:r>
              <a:rPr sz="1300" b="0" i="0">
                <a:solidFill>
                  <a:srgbClr val="404040"/>
                </a:solidFill>
              </a:rPr>
              <a:t>•Palabra `0000…0000`  -&gt;  opcode </a:t>
            </a:r>
            <a:r>
              <a:rPr sz="1300" b="1" i="0">
                <a:solidFill>
                  <a:srgbClr val="404040"/>
                </a:solidFill>
              </a:rPr>
              <a:t>0x00</a:t>
            </a:r>
            <a:r>
              <a:rPr sz="1300" b="0" i="0">
                <a:solidFill>
                  <a:srgbClr val="404040"/>
                </a:solidFill>
              </a:rPr>
              <a:t> (tipo R) + funct </a:t>
            </a:r>
            <a:r>
              <a:rPr sz="1300" b="1" i="0">
                <a:solidFill>
                  <a:srgbClr val="404040"/>
                </a:solidFill>
              </a:rPr>
              <a:t>0x00</a:t>
            </a:r>
            <a:r>
              <a:rPr sz="1300" b="0" i="0">
                <a:solidFill>
                  <a:srgbClr val="404040"/>
                </a:solidFill>
              </a:rPr>
              <a:t> (`sll`)</a:t>
            </a:r>
          </a:p>
          <a:p>
            <a:pPr algn="l" marL="237744" indent="-237744">
              <a:lnSpc>
                <a:spcPct val="115000"/>
              </a:lnSpc>
              <a:spcAft>
                <a:spcPts val="800"/>
              </a:spcAft>
            </a:pPr>
            <a:r>
              <a:rPr sz="1300" b="0" i="0">
                <a:solidFill>
                  <a:srgbClr val="404040"/>
                </a:solidFill>
              </a:rPr>
              <a:t>•El resultado va a `$rd = $0`  -&gt;  </a:t>
            </a:r>
            <a:r>
              <a:rPr sz="1300" b="1" i="0">
                <a:solidFill>
                  <a:srgbClr val="404040"/>
                </a:solidFill>
              </a:rPr>
              <a:t>se ignora</a:t>
            </a:r>
            <a:r>
              <a:rPr sz="1300" b="0" i="0">
                <a:solidFill>
                  <a:srgbClr val="404040"/>
                </a:solidFill>
              </a:rPr>
              <a:t>  -&gt;  no pasa nada</a:t>
            </a:r>
          </a:p>
          <a:p>
            <a:pPr algn="l" marL="237744" indent="-237744">
              <a:lnSpc>
                <a:spcPct val="115000"/>
              </a:lnSpc>
              <a:spcAft>
                <a:spcPts val="800"/>
              </a:spcAft>
            </a:pPr>
            <a:r>
              <a:rPr sz="1300" b="0" i="0">
                <a:solidFill>
                  <a:srgbClr val="404040"/>
                </a:solidFill>
              </a:rPr>
              <a:t>•Toda celda vacia vale 0, asi que </a:t>
            </a:r>
            <a:r>
              <a:rPr sz="1300" b="1" i="0">
                <a:solidFill>
                  <a:srgbClr val="404040"/>
                </a:solidFill>
              </a:rPr>
              <a:t>es un NOP gratis</a:t>
            </a:r>
          </a:p>
          <a:p>
            <a:pPr algn="l" marL="237744" indent="-237744">
              <a:lnSpc>
                <a:spcPct val="115000"/>
              </a:lnSpc>
              <a:spcAft>
                <a:spcPts val="800"/>
              </a:spcAft>
            </a:pPr>
            <a:r>
              <a:rPr sz="1300" b="0" i="0">
                <a:solidFill>
                  <a:srgbClr val="404040"/>
                </a:solidFill>
              </a:rPr>
              <a:t>•Por eso la CPU </a:t>
            </a:r>
            <a:r>
              <a:rPr sz="1300" b="1" i="0">
                <a:solidFill>
                  <a:srgbClr val="404040"/>
                </a:solidFill>
              </a:rPr>
              <a:t>nunca muere</a:t>
            </a:r>
            <a:r>
              <a:rPr sz="1300" b="0" i="0">
                <a:solidFill>
                  <a:srgbClr val="404040"/>
                </a:solidFill>
              </a:rPr>
              <a:t>: siempre hay algo que ejecutar</a:t>
            </a:r>
          </a:p>
          <a:p>
            <a:pPr algn="l" marL="237744" indent="-237744">
              <a:lnSpc>
                <a:spcPct val="115000"/>
              </a:lnSpc>
              <a:spcAft>
                <a:spcPts val="800"/>
              </a:spcAft>
            </a:pPr>
            <a:r>
              <a:rPr sz="1300" b="0" i="0">
                <a:solidFill>
                  <a:srgbClr val="404040"/>
                </a:solidFill>
              </a:rPr>
              <a:t>•`Instruccion.PALABRA_NOP = 0`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5" sz="quarter"/>
          </p:nvPr>
        </p:nvSpPr>
        <p:spPr/>
        <p:txBody>
          <a:bodyPr wrap="square"/>
          <a:lstStyle/>
          <a:p>
            <a:pPr algn="l" marL="237744" indent="-237744">
              <a:lnSpc>
                <a:spcPct val="115000"/>
              </a:lnSpc>
              <a:spcAft>
                <a:spcPts val="800"/>
              </a:spcAft>
            </a:pPr>
            <a:r>
              <a:rPr sz="1300" b="0" i="0">
                <a:solidFill>
                  <a:srgbClr val="404040"/>
                </a:solidFill>
              </a:rPr>
              <a:t>•Instruccion </a:t>
            </a:r>
            <a:r>
              <a:rPr sz="1300" b="1" i="0">
                <a:solidFill>
                  <a:srgbClr val="404040"/>
                </a:solidFill>
              </a:rPr>
              <a:t>propia</a:t>
            </a:r>
            <a:r>
              <a:rPr sz="1300" b="0" i="0">
                <a:solidFill>
                  <a:srgbClr val="404040"/>
                </a:solidFill>
              </a:rPr>
              <a:t> del emulador (no existe en el MIPS real)</a:t>
            </a:r>
          </a:p>
          <a:p>
            <a:pPr algn="l" marL="237744" indent="-237744">
              <a:lnSpc>
                <a:spcPct val="115000"/>
              </a:lnSpc>
              <a:spcAft>
                <a:spcPts val="800"/>
              </a:spcAft>
            </a:pPr>
            <a:r>
              <a:rPr sz="1300" b="0" i="0">
                <a:solidFill>
                  <a:srgbClr val="404040"/>
                </a:solidFill>
              </a:rPr>
              <a:t>•`UnidadControl` -&gt; senal `halt()` -&gt; `Ejecutor` -&gt; `cpu.detener()`</a:t>
            </a:r>
          </a:p>
          <a:p>
            <a:pPr algn="l" marL="237744" indent="-237744">
              <a:lnSpc>
                <a:spcPct val="115000"/>
              </a:lnSpc>
              <a:spcAft>
                <a:spcPts val="800"/>
              </a:spcAft>
            </a:pPr>
            <a:r>
              <a:rPr sz="1300" b="0" i="0">
                <a:solidFill>
                  <a:srgbClr val="404040"/>
                </a:solidFill>
              </a:rPr>
              <a:t>•`detenido = true` y el ciclo ya no avanza</a:t>
            </a:r>
          </a:p>
          <a:p>
            <a:pPr algn="l" marL="237744" indent="-237744">
              <a:lnSpc>
                <a:spcPct val="115000"/>
              </a:lnSpc>
              <a:spcAft>
                <a:spcPts val="800"/>
              </a:spcAft>
            </a:pPr>
            <a:r>
              <a:rPr sz="1300" b="0" i="0">
                <a:solidFill>
                  <a:srgbClr val="404040"/>
                </a:solidFill>
              </a:rPr>
              <a:t>•Alternativa: </a:t>
            </a:r>
            <a:r>
              <a:rPr sz="1300" b="1" i="0">
                <a:solidFill>
                  <a:srgbClr val="404040"/>
                </a:solidFill>
              </a:rPr>
              <a:t>syscall</a:t>
            </a:r>
            <a:r>
              <a:rPr sz="1300" b="0" i="0">
                <a:solidFill>
                  <a:srgbClr val="404040"/>
                </a:solidFill>
              </a:rPr>
              <a:t> con `$v0 = 10` (terminar)</a:t>
            </a:r>
          </a:p>
          <a:p>
            <a:pPr algn="l" marL="237744" indent="-237744">
              <a:lnSpc>
                <a:spcPct val="115000"/>
              </a:lnSpc>
              <a:spcAft>
                <a:spcPts val="800"/>
              </a:spcAft>
            </a:pPr>
            <a:r>
              <a:rPr sz="1300" b="0" i="0">
                <a:solidFill>
                  <a:srgbClr val="404040"/>
                </a:solidFill>
              </a:rPr>
              <a:t>•Red: `LIMITE_CICLOS_SEGURIDAD = 100000`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 wrap="square"/>
          <a:lstStyle/>
          <a:p>
            <a:pPr algn="l"/>
            <a:r>
              <a:rPr sz="1800" b="1" i="0">
                <a:solidFill>
                  <a:srgbClr val="C0504D"/>
                </a:solidFill>
                <a:latin typeface="Gill Sans MT"/>
              </a:rPr>
              <a:t>0x3F  ·  HALT (operacion de parada)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 wrap="square"/>
          <a:lstStyle/>
          <a:p>
            <a:pPr algn="l"/>
            <a:r>
              <a:rPr sz="1800" b="1" i="0">
                <a:solidFill>
                  <a:srgbClr val="1F497D"/>
                </a:solidFill>
                <a:latin typeface="Gill Sans MT"/>
              </a:rPr>
              <a:t>0x00  ·  la operacion 0 (NOP)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400" b="1" i="0">
                <a:solidFill>
                  <a:srgbClr val="1F497D"/>
                </a:solidFill>
                <a:latin typeface="Gill Sans MT"/>
              </a:rPr>
              <a:t>ALU  (Paso 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280160"/>
          <a:ext cx="4572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3017520"/>
              </a:tblGrid>
              <a:tr h="381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</a:rPr>
                        <a:t>Familia</a:t>
                      </a:r>
                    </a:p>
                  </a:txBody>
                  <a:tcPr marL="64008" marR="54864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</a:rPr>
                        <a:t>Operaciones</a:t>
                      </a:r>
                    </a:p>
                  </a:txBody>
                  <a:tcPr marL="64008" marR="54864" marT="27432" marB="27432" anchor="ctr">
                    <a:solidFill>
                      <a:srgbClr val="1F497D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404040"/>
                          </a:solidFill>
                        </a:rPr>
                        <a:t>Aritmetica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404040"/>
                          </a:solidFill>
                        </a:rPr>
                        <a:t>ADD  ADDU  SUB  SUBU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404040"/>
                          </a:solidFill>
                        </a:rPr>
                        <a:t>Logica</a:t>
                      </a:r>
                    </a:p>
                  </a:txBody>
                  <a:tcPr marL="64008" marR="54864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404040"/>
                          </a:solidFill>
                        </a:rPr>
                        <a:t>AND  OR  XOR  NOR</a:t>
                      </a:r>
                    </a:p>
                  </a:txBody>
                  <a:tcPr marL="64008" marR="54864" marT="27432" marB="27432" anchor="ctr">
                    <a:solidFill>
                      <a:srgbClr val="F3F6FA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404040"/>
                          </a:solidFill>
                        </a:rPr>
                        <a:t>Comparacion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404040"/>
                          </a:solidFill>
                        </a:rPr>
                        <a:t>SLT  SLTU  (1 si es menor, si no 0)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404040"/>
                          </a:solidFill>
                        </a:rPr>
                        <a:t>Desplazamiento</a:t>
                      </a:r>
                    </a:p>
                  </a:txBody>
                  <a:tcPr marL="64008" marR="54864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404040"/>
                          </a:solidFill>
                        </a:rPr>
                        <a:t>SLL  SRL</a:t>
                      </a:r>
                    </a:p>
                  </a:txBody>
                  <a:tcPr marL="64008" marR="54864" marT="27432" marB="27432" anchor="ctr">
                    <a:solidFill>
                      <a:srgbClr val="F3F6FA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404040"/>
                          </a:solidFill>
                        </a:rPr>
                        <a:t>Especial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404040"/>
                          </a:solidFill>
                        </a:rPr>
                        <a:t>LUI (imm &lt;&lt; 16)   ·   NOP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349240" y="1325880"/>
            <a:ext cx="3291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880" indent="-182880">
              <a:lnSpc>
                <a:spcPct val="112000"/>
              </a:lnSpc>
              <a:spcAft>
                <a:spcPts val="1000"/>
              </a:spcAft>
            </a:pPr>
            <a:r>
              <a:rPr sz="1200" b="0" i="0">
                <a:solidFill>
                  <a:srgbClr val="404040"/>
                </a:solidFill>
              </a:rPr>
              <a:t>•  Dos operandos de 32 bits + una operacion -&gt; resultado de 32 bits</a:t>
            </a:r>
          </a:p>
          <a:p>
            <a:pPr marL="182880" indent="-182880">
              <a:lnSpc>
                <a:spcPct val="112000"/>
              </a:lnSpc>
              <a:spcAft>
                <a:spcPts val="1000"/>
              </a:spcAft>
            </a:pPr>
            <a:r>
              <a:rPr sz="1200" b="0" i="0">
                <a:solidFill>
                  <a:srgbClr val="404040"/>
                </a:solidFill>
              </a:rPr>
              <a:t>•  </a:t>
            </a:r>
            <a:r>
              <a:rPr sz="1200" b="1" i="0">
                <a:solidFill>
                  <a:srgbClr val="404040"/>
                </a:solidFill>
              </a:rPr>
              <a:t>MIPS no tiene flags</a:t>
            </a:r>
            <a:r>
              <a:rPr sz="1200" b="0" i="0">
                <a:solidFill>
                  <a:srgbClr val="404040"/>
                </a:solidFill>
              </a:rPr>
              <a:t>: comparar es `slt` y luego `beq` / `bne`</a:t>
            </a:r>
          </a:p>
          <a:p>
            <a:pPr marL="182880" indent="-182880">
              <a:lnSpc>
                <a:spcPct val="112000"/>
              </a:lnSpc>
              <a:spcAft>
                <a:spcPts val="1000"/>
              </a:spcAft>
            </a:pPr>
            <a:r>
              <a:rPr sz="1200" b="0" i="0">
                <a:solidFill>
                  <a:srgbClr val="404040"/>
                </a:solidFill>
              </a:rPr>
              <a:t>•  Desbordamiento: `add`/`sub` </a:t>
            </a:r>
            <a:r>
              <a:rPr sz="1200" b="1" i="0">
                <a:solidFill>
                  <a:srgbClr val="404040"/>
                </a:solidFill>
              </a:rPr>
              <a:t>detienen</a:t>
            </a:r>
            <a:r>
              <a:rPr sz="1200" b="0" i="0">
                <a:solidFill>
                  <a:srgbClr val="404040"/>
                </a:solidFill>
              </a:rPr>
              <a:t> la ejecucion; `addu`/`subu` envuelven</a:t>
            </a:r>
          </a:p>
          <a:p>
            <a:pPr marL="182880" indent="-182880">
              <a:lnSpc>
                <a:spcPct val="112000"/>
              </a:lnSpc>
              <a:spcAft>
                <a:spcPts val="1000"/>
              </a:spcAft>
            </a:pPr>
            <a:r>
              <a:rPr sz="1200" b="0" i="0">
                <a:solidFill>
                  <a:srgbClr val="404040"/>
                </a:solidFill>
              </a:rPr>
              <a:t>•  `mult` y `div` guardan el resultado de 64 bits en </a:t>
            </a:r>
            <a:r>
              <a:rPr sz="1200" b="1" i="0">
                <a:solidFill>
                  <a:srgbClr val="404040"/>
                </a:solidFill>
              </a:rPr>
              <a:t>HI:LO</a:t>
            </a:r>
            <a:r>
              <a:rPr sz="1200" b="0" i="0">
                <a:solidFill>
                  <a:srgbClr val="404040"/>
                </a:solidFill>
              </a:rPr>
              <a:t> (`mfhi` / `mflo` lo pasan a un registro)</a:t>
            </a:r>
          </a:p>
          <a:p>
            <a:pPr marL="182880" indent="-182880">
              <a:lnSpc>
                <a:spcPct val="112000"/>
              </a:lnSpc>
              <a:spcAft>
                <a:spcPts val="1000"/>
              </a:spcAft>
            </a:pPr>
            <a:r>
              <a:rPr sz="1200" b="0" i="0">
                <a:solidFill>
                  <a:srgbClr val="404040"/>
                </a:solidFill>
              </a:rPr>
              <a:t>•  Codigo: `src/alu/ALU.java` y `src/alu/OperacionALU.java`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794760"/>
            <a:ext cx="8138160" cy="548640"/>
          </a:xfrm>
          <a:prstGeom prst="roundRect">
            <a:avLst>
              <a:gd name="adj" fmla="val 8000"/>
            </a:avLst>
          </a:prstGeom>
          <a:solidFill>
            <a:srgbClr val="DCE6F1"/>
          </a:solidFill>
          <a:ln w="1270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36576" bIns="36576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50" b="0" i="0">
                <a:solidFill>
                  <a:srgbClr val="1F497D"/>
                </a:solidFill>
              </a:rPr>
              <a:t>Los programas usan </a:t>
            </a:r>
            <a:r>
              <a:rPr sz="1250" b="1" i="0">
                <a:solidFill>
                  <a:srgbClr val="1F497D"/>
                </a:solidFill>
              </a:rPr>
              <a:t>addu / subu / addiu</a:t>
            </a:r>
            <a:r>
              <a:rPr sz="1250" b="0" i="0">
                <a:solidFill>
                  <a:srgbClr val="1F497D"/>
                </a:solidFill>
              </a:rPr>
              <a:t> para que nunca se detengan por desbordamiento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400" b="1" i="0">
                <a:solidFill>
                  <a:srgbClr val="1F497D"/>
                </a:solidFill>
                <a:latin typeface="Gill Sans MT"/>
              </a:rPr>
              <a:t>syscall: la puerta al sistema operativo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280160"/>
          <a:ext cx="81381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3108960"/>
                <a:gridCol w="4023360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</a:rPr>
                        <a:t>$v0</a:t>
                      </a:r>
                    </a:p>
                  </a:txBody>
                  <a:tcPr marL="64008" marR="54864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</a:rPr>
                        <a:t>Servicio</a:t>
                      </a:r>
                    </a:p>
                  </a:txBody>
                  <a:tcPr marL="64008" marR="54864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</a:rPr>
                        <a:t>Argumento</a:t>
                      </a:r>
                    </a:p>
                  </a:txBody>
                  <a:tcPr marL="64008" marR="54864" marT="27432" marB="27432" anchor="ctr">
                    <a:solidFill>
                      <a:srgbClr val="1F497D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404040"/>
                          </a:solidFill>
                        </a:rPr>
                        <a:t>1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404040"/>
                          </a:solidFill>
                        </a:rPr>
                        <a:t>imprimir entero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404040"/>
                          </a:solidFill>
                        </a:rPr>
                        <a:t>$a0 = valor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404040"/>
                          </a:solidFill>
                        </a:rPr>
                        <a:t>4</a:t>
                      </a:r>
                    </a:p>
                  </a:txBody>
                  <a:tcPr marL="64008" marR="54864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404040"/>
                          </a:solidFill>
                        </a:rPr>
                        <a:t>imprimir cadena</a:t>
                      </a:r>
                    </a:p>
                  </a:txBody>
                  <a:tcPr marL="64008" marR="54864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404040"/>
                          </a:solidFill>
                        </a:rPr>
                        <a:t>$a0 = direccion terminada en 0</a:t>
                      </a:r>
                    </a:p>
                  </a:txBody>
                  <a:tcPr marL="64008" marR="54864" marT="27432" marB="27432" anchor="ctr">
                    <a:solidFill>
                      <a:srgbClr val="F3F6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404040"/>
                          </a:solidFill>
                        </a:rPr>
                        <a:t>5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404040"/>
                          </a:solidFill>
                        </a:rPr>
                        <a:t>leer entero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404040"/>
                          </a:solidFill>
                        </a:rPr>
                        <a:t>el resultado se guarda en $v0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404040"/>
                          </a:solidFill>
                        </a:rPr>
                        <a:t>11</a:t>
                      </a:r>
                    </a:p>
                  </a:txBody>
                  <a:tcPr marL="64008" marR="54864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404040"/>
                          </a:solidFill>
                        </a:rPr>
                        <a:t>imprimir caracter</a:t>
                      </a:r>
                    </a:p>
                  </a:txBody>
                  <a:tcPr marL="64008" marR="54864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404040"/>
                          </a:solidFill>
                        </a:rPr>
                        <a:t>$a0 = codigo ASCII</a:t>
                      </a:r>
                    </a:p>
                  </a:txBody>
                  <a:tcPr marL="64008" marR="54864" marT="27432" marB="27432" anchor="ctr">
                    <a:solidFill>
                      <a:srgbClr val="F3F6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404040"/>
                          </a:solidFill>
                        </a:rPr>
                        <a:t>10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404040"/>
                          </a:solidFill>
                        </a:rPr>
                        <a:t>terminar programa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404040"/>
                          </a:solidFill>
                        </a:rPr>
                        <a:t>-   (detiene la CPU)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3703320"/>
            <a:ext cx="8138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9456" indent="-219456">
              <a:lnSpc>
                <a:spcPct val="110000"/>
              </a:lnSpc>
              <a:spcAft>
                <a:spcPts val="800"/>
              </a:spcAft>
            </a:pPr>
            <a:r>
              <a:rPr sz="1250" b="0" i="0">
                <a:solidFill>
                  <a:srgbClr val="404040"/>
                </a:solidFill>
              </a:rPr>
              <a:t>•  En un procesador real es la </a:t>
            </a:r>
            <a:r>
              <a:rPr sz="1250" b="1" i="0">
                <a:solidFill>
                  <a:srgbClr val="404040"/>
                </a:solidFill>
              </a:rPr>
              <a:t>frontera entre el programa y el SO</a:t>
            </a:r>
            <a:r>
              <a:rPr sz="1250" b="0" i="0">
                <a:solidFill>
                  <a:srgbClr val="404040"/>
                </a:solidFill>
              </a:rPr>
              <a:t> (entrada y salida en modo usuario); aqui es la consola del emulador</a:t>
            </a:r>
          </a:p>
          <a:p>
            <a:pPr marL="219456" indent="-219456">
              <a:lnSpc>
                <a:spcPct val="110000"/>
              </a:lnSpc>
              <a:spcAft>
                <a:spcPts val="800"/>
              </a:spcAft>
            </a:pPr>
            <a:r>
              <a:rPr sz="1250" b="0" i="0">
                <a:solidFill>
                  <a:srgbClr val="404040"/>
                </a:solidFill>
              </a:rPr>
              <a:t>•  El servicio va en `$v0`, los argumentos en `$a0`  -&gt;  `CPU.syscall()` (`src/cpu/CPU.java`)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pPr algn="l"/>
            <a:r>
              <a:rPr sz="2400" b="1" i="0">
                <a:solidFill>
                  <a:srgbClr val="1F497D"/>
                </a:solidFill>
                <a:latin typeface="Gill Sans MT"/>
              </a:rPr>
              <a:t>Pruebas tecnicas: 201, todas pasan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 wrap="square"/>
          <a:lstStyle/>
          <a:p>
            <a:pPr algn="l" marL="237744" indent="-237744">
              <a:lnSpc>
                <a:spcPct val="115000"/>
              </a:lnSpc>
              <a:spcAft>
                <a:spcPts val="900"/>
              </a:spcAft>
            </a:pPr>
            <a:r>
              <a:rPr sz="1200" b="0" i="0">
                <a:solidFill>
                  <a:srgbClr val="404040"/>
                </a:solidFill>
              </a:rPr>
              <a:t>•</a:t>
            </a:r>
            <a:r>
              <a:rPr sz="1200" b="1" i="0">
                <a:solidFill>
                  <a:srgbClr val="404040"/>
                </a:solidFill>
              </a:rPr>
              <a:t>117 unitarias</a:t>
            </a:r>
            <a:r>
              <a:rPr sz="1200" b="0" i="0">
                <a:solidFill>
                  <a:srgbClr val="404040"/>
                </a:solidFill>
              </a:rPr>
              <a:t>: ALU, registros, decodificador, segmentos, HALT</a:t>
            </a:r>
          </a:p>
          <a:p>
            <a:pPr algn="l" marL="237744" indent="-237744">
              <a:lnSpc>
                <a:spcPct val="115000"/>
              </a:lnSpc>
              <a:spcAft>
                <a:spcPts val="900"/>
              </a:spcAft>
            </a:pPr>
            <a:r>
              <a:rPr sz="1200" b="0" i="0">
                <a:solidFill>
                  <a:srgbClr val="404040"/>
                </a:solidFill>
              </a:rPr>
              <a:t>•</a:t>
            </a:r>
            <a:r>
              <a:rPr sz="1200" b="1" i="0">
                <a:solidFill>
                  <a:srgbClr val="404040"/>
                </a:solidFill>
              </a:rPr>
              <a:t>44 de integracion</a:t>
            </a:r>
            <a:r>
              <a:rPr sz="1200" b="0" i="0">
                <a:solidFill>
                  <a:srgbClr val="404040"/>
                </a:solidFill>
              </a:rPr>
              <a:t>: ciclo completo, ramas, saltos, syscall</a:t>
            </a:r>
          </a:p>
          <a:p>
            <a:pPr algn="l" marL="237744" indent="-237744">
              <a:lnSpc>
                <a:spcPct val="115000"/>
              </a:lnSpc>
              <a:spcAft>
                <a:spcPts val="900"/>
              </a:spcAft>
            </a:pPr>
            <a:r>
              <a:rPr sz="1200" b="0" i="0">
                <a:solidFill>
                  <a:srgbClr val="404040"/>
                </a:solidFill>
              </a:rPr>
              <a:t>•</a:t>
            </a:r>
            <a:r>
              <a:rPr sz="1200" b="1" i="0">
                <a:solidFill>
                  <a:srgbClr val="404040"/>
                </a:solidFill>
              </a:rPr>
              <a:t>40 de sistema</a:t>
            </a:r>
            <a:r>
              <a:rPr sz="1200" b="0" i="0">
                <a:solidFill>
                  <a:srgbClr val="404040"/>
                </a:solidFill>
              </a:rPr>
              <a:t>: los 5 programas con su salida exacta</a:t>
            </a:r>
          </a:p>
          <a:p>
            <a:pPr algn="l" marL="237744" indent="-237744">
              <a:lnSpc>
                <a:spcPct val="115000"/>
              </a:lnSpc>
              <a:spcAft>
                <a:spcPts val="900"/>
              </a:spcAft>
            </a:pPr>
            <a:r>
              <a:rPr sz="1200" b="0" i="0">
                <a:solidFill>
                  <a:srgbClr val="404040"/>
                </a:solidFill>
              </a:rPr>
              <a:t>•Verifican tambien que </a:t>
            </a:r>
            <a:r>
              <a:rPr sz="1200" b="1" i="0">
                <a:solidFill>
                  <a:srgbClr val="404040"/>
                </a:solidFill>
              </a:rPr>
              <a:t>la CPU nunca muere</a:t>
            </a:r>
          </a:p>
          <a:p>
            <a:pPr algn="l" marL="237744" indent="-237744">
              <a:lnSpc>
                <a:spcPct val="115000"/>
              </a:lnSpc>
              <a:spcAft>
                <a:spcPts val="900"/>
              </a:spcAft>
            </a:pPr>
            <a:r>
              <a:rPr sz="1200" b="0" i="0">
                <a:solidFill>
                  <a:srgbClr val="404040"/>
                </a:solidFill>
              </a:rPr>
              <a:t>•`./probar.sh`  -&gt;  201 pruebas, </a:t>
            </a:r>
            <a:r>
              <a:rPr sz="1200" b="1" i="0">
                <a:solidFill>
                  <a:srgbClr val="404040"/>
                </a:solidFill>
              </a:rPr>
              <a:t>0 fallidas</a:t>
            </a:r>
          </a:p>
        </p:txBody>
      </p:sp>
      <p:pic>
        <p:nvPicPr>
          <p:cNvPr id="5" name="Picture 4" descr="ev_prueb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2548" y="1600200"/>
            <a:ext cx="3562184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ctr"/>
            <a:r>
              <a:rPr sz="2600" b="1" i="0">
                <a:solidFill>
                  <a:srgbClr val="1F497D"/>
                </a:solidFill>
                <a:latin typeface="Gill Sans MT"/>
              </a:rPr>
              <a:t>Codigos implementados y ejecutados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ctr" marL="237744" indent="-237744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4F81BD"/>
                </a:solidFill>
              </a:rPr>
              <a:t>5 programas de usuario + evidencia de ejecucion     min. 30 –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66160" y="960120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DCE6F1"/>
                </a:solidFill>
              </a:rPr>
              <a:t>04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400" b="1" i="0">
                <a:solidFill>
                  <a:srgbClr val="1F497D"/>
                </a:solidFill>
                <a:latin typeface="Gill Sans MT"/>
              </a:rPr>
              <a:t>Los 5 programas de usuario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280160"/>
          <a:ext cx="813816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834640"/>
                <a:gridCol w="2926080"/>
                <a:gridCol w="914400"/>
              </a:tblGrid>
              <a:tr h="4114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</a:rPr>
                        <a:t>Programa</a:t>
                      </a:r>
                    </a:p>
                  </a:txBody>
                  <a:tcPr marL="64008" marR="54864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</a:rPr>
                        <a:t>Que hace</a:t>
                      </a:r>
                    </a:p>
                  </a:txBody>
                  <a:tcPr marL="64008" marR="54864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</a:rPr>
                        <a:t>Salida real</a:t>
                      </a:r>
                    </a:p>
                  </a:txBody>
                  <a:tcPr marL="64008" marR="54864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</a:rPr>
                        <a:t>Ciclos</a:t>
                      </a:r>
                    </a:p>
                  </a:txBody>
                  <a:tcPr marL="64008" marR="54864" marT="27432" marB="27432" anchor="ctr">
                    <a:solidFill>
                      <a:srgbClr val="1F497D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404040"/>
                          </a:solidFill>
                        </a:rPr>
                        <a:t>sumatoria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404040"/>
                          </a:solidFill>
                        </a:rPr>
                        <a:t>suma de 3 a 10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404040"/>
                          </a:solidFill>
                        </a:rPr>
                        <a:t>Sumatoria de 3 a 10 = 52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404040"/>
                          </a:solidFill>
                        </a:rPr>
                        <a:t>68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404040"/>
                          </a:solidFill>
                        </a:rPr>
                        <a:t>factorial</a:t>
                      </a:r>
                    </a:p>
                  </a:txBody>
                  <a:tcPr marL="64008" marR="54864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404040"/>
                          </a:solidFill>
                        </a:rPr>
                        <a:t>7!</a:t>
                      </a:r>
                    </a:p>
                  </a:txBody>
                  <a:tcPr marL="64008" marR="54864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404040"/>
                          </a:solidFill>
                        </a:rPr>
                        <a:t>Factorial de 7 = 5040</a:t>
                      </a:r>
                    </a:p>
                  </a:txBody>
                  <a:tcPr marL="64008" marR="54864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404040"/>
                          </a:solidFill>
                        </a:rPr>
                        <a:t>63</a:t>
                      </a:r>
                    </a:p>
                  </a:txBody>
                  <a:tcPr marL="64008" marR="54864" marT="27432" marB="27432" anchor="ctr">
                    <a:solidFill>
                      <a:srgbClr val="F3F6F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404040"/>
                          </a:solidFill>
                        </a:rPr>
                        <a:t>integral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404040"/>
                          </a:solidFill>
                        </a:rPr>
                        <a:t>1²+2²+3²+4²  (rectangulos)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404040"/>
                          </a:solidFill>
                        </a:rPr>
                        <a:t>… desde x=1 hasta x=5 = 30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404040"/>
                          </a:solidFill>
                        </a:rPr>
                        <a:t>56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404040"/>
                          </a:solidFill>
                        </a:rPr>
                        <a:t>promedio</a:t>
                      </a:r>
                    </a:p>
                  </a:txBody>
                  <a:tcPr marL="64008" marR="54864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404040"/>
                          </a:solidFill>
                        </a:rPr>
                        <a:t>vector {4,8,15,16,23}</a:t>
                      </a:r>
                    </a:p>
                  </a:txBody>
                  <a:tcPr marL="64008" marR="54864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404040"/>
                          </a:solidFill>
                        </a:rPr>
                        <a:t>Promedio = 13</a:t>
                      </a:r>
                    </a:p>
                  </a:txBody>
                  <a:tcPr marL="64008" marR="54864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404040"/>
                          </a:solidFill>
                        </a:rPr>
                        <a:t>123</a:t>
                      </a:r>
                    </a:p>
                  </a:txBody>
                  <a:tcPr marL="64008" marR="54864" marT="27432" marB="27432" anchor="ctr">
                    <a:solidFill>
                      <a:srgbClr val="F3F6F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404040"/>
                          </a:solidFill>
                        </a:rPr>
                        <a:t>perceptron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404040"/>
                          </a:solidFill>
                        </a:rPr>
                        <a:t>z = Σ x·w + bias, activacion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404040"/>
                          </a:solidFill>
                        </a:rPr>
                        <a:t>z = 3   y = 1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404040"/>
                          </a:solidFill>
                        </a:rPr>
                        <a:t>62</a:t>
                      </a:r>
                    </a:p>
                  </a:txBody>
                  <a:tcPr marL="64008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4023360"/>
            <a:ext cx="8138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4F81BD"/>
                </a:solidFill>
              </a:rPr>
              <a:t>Se arman con `instruccion.ProgramaBuilder` (sin escribir binario a mano) y terminan siempre con `halt()`.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pPr algn="l"/>
            <a:r>
              <a:rPr sz="1900" b="1" i="0">
                <a:solidFill>
                  <a:srgbClr val="1F497D"/>
                </a:solidFill>
                <a:latin typeface="Gill Sans MT"/>
              </a:rPr>
              <a:t>Factorial  -  7! = 5040 en 63 ciclos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 wrap="square"/>
          <a:lstStyle/>
          <a:p>
            <a:pPr algn="l" marL="237744" indent="-237744">
              <a:lnSpc>
                <a:spcPct val="110000"/>
              </a:lnSpc>
              <a:spcAft>
                <a:spcPts val="700"/>
              </a:spcAft>
            </a:pPr>
            <a:r>
              <a:rPr sz="1250" b="0" i="0">
                <a:solidFill>
                  <a:srgbClr val="404040"/>
                </a:solidFill>
              </a:rPr>
              <a:t>•</a:t>
            </a:r>
            <a:r>
              <a:rPr sz="1250" b="1" i="0">
                <a:solidFill>
                  <a:srgbClr val="404040"/>
                </a:solidFill>
              </a:rPr>
              <a:t>Objetivo</a:t>
            </a:r>
            <a:r>
              <a:rPr sz="1250" b="0" i="0">
                <a:solidFill>
                  <a:srgbClr val="404040"/>
                </a:solidFill>
              </a:rPr>
              <a:t>: factorial de 7 -&gt; </a:t>
            </a:r>
            <a:r>
              <a:rPr sz="1250" b="1" i="0">
                <a:solidFill>
                  <a:srgbClr val="404040"/>
                </a:solidFill>
              </a:rPr>
              <a:t>5040</a:t>
            </a:r>
          </a:p>
          <a:p>
            <a:pPr algn="l" marL="237744" indent="-237744">
              <a:lnSpc>
                <a:spcPct val="110000"/>
              </a:lnSpc>
              <a:spcAft>
                <a:spcPts val="700"/>
              </a:spcAft>
            </a:pPr>
            <a:r>
              <a:rPr sz="1250" b="0" i="0">
                <a:solidFill>
                  <a:srgbClr val="404040"/>
                </a:solidFill>
              </a:rPr>
              <a:t>•Comparacion </a:t>
            </a:r>
            <a:r>
              <a:rPr sz="1250" b="1" i="0">
                <a:solidFill>
                  <a:srgbClr val="404040"/>
                </a:solidFill>
              </a:rPr>
              <a:t>sin flags</a:t>
            </a:r>
            <a:r>
              <a:rPr sz="1250" b="0" i="0">
                <a:solidFill>
                  <a:srgbClr val="404040"/>
                </a:solidFill>
              </a:rPr>
              <a:t>: `slt` + `bne`</a:t>
            </a:r>
          </a:p>
          <a:p>
            <a:pPr algn="l" marL="237744" indent="-237744">
              <a:lnSpc>
                <a:spcPct val="110000"/>
              </a:lnSpc>
              <a:spcAft>
                <a:spcPts val="700"/>
              </a:spcAft>
            </a:pPr>
            <a:r>
              <a:rPr sz="1250" b="0" i="0">
                <a:solidFill>
                  <a:srgbClr val="404040"/>
                </a:solidFill>
              </a:rPr>
              <a:t>•`mult` + `mflo`: el acumulado pasa por </a:t>
            </a:r>
            <a:r>
              <a:rPr sz="1250" b="1" i="0">
                <a:solidFill>
                  <a:srgbClr val="404040"/>
                </a:solidFill>
              </a:rPr>
              <a:t>LO</a:t>
            </a:r>
          </a:p>
          <a:p>
            <a:pPr algn="l" marL="237744" indent="-237744">
              <a:lnSpc>
                <a:spcPct val="110000"/>
              </a:lnSpc>
              <a:spcAft>
                <a:spcPts val="700"/>
              </a:spcAft>
            </a:pPr>
            <a:r>
              <a:rPr sz="1250" b="0" i="0">
                <a:solidFill>
                  <a:srgbClr val="404040"/>
                </a:solidFill>
              </a:rPr>
              <a:t>•Bucle con etiqueta resuelto por `ProgramaBuilder`</a:t>
            </a:r>
          </a:p>
          <a:p>
            <a:pPr algn="l" marL="237744" indent="-237744">
              <a:lnSpc>
                <a:spcPct val="110000"/>
              </a:lnSpc>
              <a:spcAft>
                <a:spcPts val="700"/>
              </a:spcAft>
            </a:pPr>
            <a:r>
              <a:rPr sz="1250" b="0" i="0">
                <a:solidFill>
                  <a:srgbClr val="404040"/>
                </a:solidFill>
              </a:rPr>
              <a:t>•Termina con `Impresion.terminar(p)` -&gt; </a:t>
            </a:r>
            <a:r>
              <a:rPr sz="1250" b="1" i="0">
                <a:solidFill>
                  <a:srgbClr val="404040"/>
                </a:solidFill>
              </a:rPr>
              <a:t>halt</a:t>
            </a:r>
          </a:p>
          <a:p>
            <a:pPr algn="l" marL="237744" indent="-237744">
              <a:lnSpc>
                <a:spcPct val="110000"/>
              </a:lnSpc>
              <a:spcAft>
                <a:spcPts val="700"/>
              </a:spcAft>
            </a:pPr>
            <a:r>
              <a:rPr sz="1250" b="0" i="0">
                <a:solidFill>
                  <a:srgbClr val="404040"/>
                </a:solidFill>
              </a:rPr>
              <a:t>•Codigo: `src/programas/Factorial.java`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21608" y="1472184"/>
            <a:ext cx="4855464" cy="3099816"/>
          </a:xfrm>
          <a:prstGeom prst="roundRect">
            <a:avLst>
              <a:gd name="adj" fmla="val 8000"/>
            </a:avLst>
          </a:prstGeom>
          <a:solidFill>
            <a:srgbClr val="1E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950" b="0" i="0">
                <a:solidFill>
                  <a:srgbClr val="E6E9EF"/>
                </a:solidFill>
                <a:latin typeface="Consolas"/>
              </a:rPr>
              <a:t>p.cargarConstante(T1, 1);   // acumulado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950" b="0" i="0">
                <a:solidFill>
                  <a:srgbClr val="E6E9EF"/>
                </a:solidFill>
                <a:latin typeface="Consolas"/>
              </a:rPr>
              <a:t>p.cargarConstante(T2, 1);   // contador i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950" b="0" i="0">
                <a:solidFill>
                  <a:srgbClr val="E6E9EF"/>
                </a:solidFill>
                <a:latin typeface="Consolas"/>
              </a:rPr>
              <a:t>p.etiqueta("bucle");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950" b="0" i="0">
                <a:solidFill>
                  <a:srgbClr val="E6E9EF"/>
                </a:solidFill>
                <a:latin typeface="Consolas"/>
              </a:rPr>
              <a:t>p.slt(T3, T0, T2);           // 1 si n &lt; i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950" b="0" i="0">
                <a:solidFill>
                  <a:srgbClr val="E6E9EF"/>
                </a:solidFill>
                <a:latin typeface="Consolas"/>
              </a:rPr>
              <a:t>p.bne(T3, ZERO, "fin_bucle");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950" b="0" i="0">
                <a:solidFill>
                  <a:srgbClr val="E6E9EF"/>
                </a:solidFill>
                <a:latin typeface="Consolas"/>
              </a:rPr>
              <a:t>p.mult(T1, T2);              // acumulado * i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950" b="0" i="0">
                <a:solidFill>
                  <a:srgbClr val="E6E9EF"/>
                </a:solidFill>
                <a:latin typeface="Consolas"/>
              </a:rPr>
              <a:t>p.mflo(T1);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950" b="0" i="0">
                <a:solidFill>
                  <a:srgbClr val="E6E9EF"/>
                </a:solidFill>
                <a:latin typeface="Consolas"/>
              </a:rPr>
              <a:t>p.addiu(T2, T2, 1);          // i++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950" b="0" i="0">
                <a:solidFill>
                  <a:srgbClr val="E6E9EF"/>
                </a:solidFill>
                <a:latin typeface="Consolas"/>
              </a:rPr>
              <a:t>p.j("bucle");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950" b="0" i="0">
                <a:solidFill>
                  <a:srgbClr val="E6E9EF"/>
                </a:solidFill>
                <a:latin typeface="Consolas"/>
              </a:rPr>
              <a:t>p.etiqueta("fin_bucle");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950" b="0" i="0">
                <a:solidFill>
                  <a:srgbClr val="E6E9EF"/>
                </a:solidFill>
                <a:latin typeface="Consolas"/>
              </a:rPr>
              <a:t>Impresion.entero(p, T1);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950" b="0" i="0">
                <a:solidFill>
                  <a:srgbClr val="E6E9EF"/>
                </a:solidFill>
                <a:latin typeface="Consolas"/>
              </a:rPr>
              <a:t>Impresion.terminar(p);       // halt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pPr algn="l"/>
            <a:r>
              <a:rPr sz="1900" b="1" i="0">
                <a:solidFill>
                  <a:srgbClr val="1F497D"/>
                </a:solidFill>
                <a:latin typeface="Gill Sans MT"/>
              </a:rPr>
              <a:t>Sumatoria  -  3 + 4 + … + 10 = 52 en 68 ciclos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 wrap="square"/>
          <a:lstStyle/>
          <a:p>
            <a:pPr algn="l" marL="237744" indent="-237744">
              <a:lnSpc>
                <a:spcPct val="110000"/>
              </a:lnSpc>
              <a:spcAft>
                <a:spcPts val="700"/>
              </a:spcAft>
            </a:pPr>
            <a:r>
              <a:rPr sz="1250" b="0" i="0">
                <a:solidFill>
                  <a:srgbClr val="404040"/>
                </a:solidFill>
              </a:rPr>
              <a:t>•</a:t>
            </a:r>
            <a:r>
              <a:rPr sz="1250" b="1" i="0">
                <a:solidFill>
                  <a:srgbClr val="404040"/>
                </a:solidFill>
              </a:rPr>
              <a:t>Objetivo</a:t>
            </a:r>
            <a:r>
              <a:rPr sz="1250" b="0" i="0">
                <a:solidFill>
                  <a:srgbClr val="404040"/>
                </a:solidFill>
              </a:rPr>
              <a:t>: sumar de 3 a 10 -&gt; </a:t>
            </a:r>
            <a:r>
              <a:rPr sz="1250" b="1" i="0">
                <a:solidFill>
                  <a:srgbClr val="404040"/>
                </a:solidFill>
              </a:rPr>
              <a:t>52</a:t>
            </a:r>
          </a:p>
          <a:p>
            <a:pPr algn="l" marL="237744" indent="-237744">
              <a:lnSpc>
                <a:spcPct val="110000"/>
              </a:lnSpc>
              <a:spcAft>
                <a:spcPts val="700"/>
              </a:spcAft>
            </a:pPr>
            <a:r>
              <a:rPr sz="1250" b="0" i="0">
                <a:solidFill>
                  <a:srgbClr val="404040"/>
                </a:solidFill>
              </a:rPr>
              <a:t>•Los datos viven en la </a:t>
            </a:r>
            <a:r>
              <a:rPr sz="1250" b="1" i="0">
                <a:solidFill>
                  <a:srgbClr val="404040"/>
                </a:solidFill>
              </a:rPr>
              <a:t>RAM</a:t>
            </a:r>
            <a:r>
              <a:rPr sz="1250" b="0" i="0">
                <a:solidFill>
                  <a:srgbClr val="404040"/>
                </a:solidFill>
              </a:rPr>
              <a:t> y se leen con `lw`</a:t>
            </a:r>
          </a:p>
          <a:p>
            <a:pPr algn="l" marL="237744" indent="-237744">
              <a:lnSpc>
                <a:spcPct val="110000"/>
              </a:lnSpc>
              <a:spcAft>
                <a:spcPts val="700"/>
              </a:spcAft>
            </a:pPr>
            <a:r>
              <a:rPr sz="1250" b="0" i="0">
                <a:solidFill>
                  <a:srgbClr val="404040"/>
                </a:solidFill>
              </a:rPr>
              <a:t>•`addu` / `addiu`: nunca provocan desbordamiento</a:t>
            </a:r>
          </a:p>
          <a:p>
            <a:pPr algn="l" marL="237744" indent="-237744">
              <a:lnSpc>
                <a:spcPct val="110000"/>
              </a:lnSpc>
              <a:spcAft>
                <a:spcPts val="700"/>
              </a:spcAft>
            </a:pPr>
            <a:r>
              <a:rPr sz="1250" b="0" i="0">
                <a:solidFill>
                  <a:srgbClr val="404040"/>
                </a:solidFill>
              </a:rPr>
              <a:t>•Bucle que sale con `slt` + `bne` al pasar el final</a:t>
            </a:r>
          </a:p>
          <a:p>
            <a:pPr algn="l" marL="237744" indent="-237744">
              <a:lnSpc>
                <a:spcPct val="110000"/>
              </a:lnSpc>
              <a:spcAft>
                <a:spcPts val="700"/>
              </a:spcAft>
            </a:pPr>
            <a:r>
              <a:rPr sz="1250" b="0" i="0">
                <a:solidFill>
                  <a:srgbClr val="404040"/>
                </a:solidFill>
              </a:rPr>
              <a:t>•Salida por `syscall` 1 y 4 (entero y cadena)</a:t>
            </a:r>
          </a:p>
          <a:p>
            <a:pPr algn="l" marL="237744" indent="-237744">
              <a:lnSpc>
                <a:spcPct val="110000"/>
              </a:lnSpc>
              <a:spcAft>
                <a:spcPts val="700"/>
              </a:spcAft>
            </a:pPr>
            <a:r>
              <a:rPr sz="1250" b="0" i="0">
                <a:solidFill>
                  <a:srgbClr val="404040"/>
                </a:solidFill>
              </a:rPr>
              <a:t>•Codigo: `src/programas/Sumatoria.java`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21608" y="1472184"/>
            <a:ext cx="4855464" cy="3099816"/>
          </a:xfrm>
          <a:prstGeom prst="roundRect">
            <a:avLst>
              <a:gd name="adj" fmla="val 8000"/>
            </a:avLst>
          </a:prstGeom>
          <a:solidFill>
            <a:srgbClr val="1E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950" b="0" i="0">
                <a:solidFill>
                  <a:srgbClr val="E6E9EF"/>
                </a:solidFill>
                <a:latin typeface="Consolas"/>
              </a:rPr>
              <a:t>int dirInicial = p.palabra(3);   // en RAM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950" b="0" i="0">
                <a:solidFill>
                  <a:srgbClr val="E6E9EF"/>
                </a:solidFill>
                <a:latin typeface="Consolas"/>
              </a:rPr>
              <a:t>int dirFinal   = p.palabra(10);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950" b="0" i="0">
                <a:solidFill>
                  <a:srgbClr val="E6E9EF"/>
                </a:solidFill>
                <a:latin typeface="Consolas"/>
              </a:rPr>
              <a:t>p.lwAbs(T0, dirInicial);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950" b="0" i="0">
                <a:solidFill>
                  <a:srgbClr val="E6E9EF"/>
                </a:solidFill>
                <a:latin typeface="Consolas"/>
              </a:rPr>
              <a:t>p.lwAbs(T1, dirFinal);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950" b="0" i="0">
                <a:solidFill>
                  <a:srgbClr val="E6E9EF"/>
                </a:solidFill>
                <a:latin typeface="Consolas"/>
              </a:rPr>
              <a:t>p.cargarConstante(T2, 0);       // suma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950" b="0" i="0">
                <a:solidFill>
                  <a:srgbClr val="E6E9EF"/>
                </a:solidFill>
                <a:latin typeface="Consolas"/>
              </a:rPr>
              <a:t>p.mover(T3, T0);                // i = inicial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950" b="0" i="0">
                <a:solidFill>
                  <a:srgbClr val="E6E9EF"/>
                </a:solidFill>
                <a:latin typeface="Consolas"/>
              </a:rPr>
              <a:t>p.etiqueta("bucle");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950" b="0" i="0">
                <a:solidFill>
                  <a:srgbClr val="E6E9EF"/>
                </a:solidFill>
                <a:latin typeface="Consolas"/>
              </a:rPr>
              <a:t>p.slt(T4, T1, T3);              // 1 si final &lt; i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950" b="0" i="0">
                <a:solidFill>
                  <a:srgbClr val="E6E9EF"/>
                </a:solidFill>
                <a:latin typeface="Consolas"/>
              </a:rPr>
              <a:t>p.bne(T4, ZERO, "fin_bucle");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950" b="0" i="0">
                <a:solidFill>
                  <a:srgbClr val="E6E9EF"/>
                </a:solidFill>
                <a:latin typeface="Consolas"/>
              </a:rPr>
              <a:t>p.addu(T2, T2, T3);             // suma += i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950" b="0" i="0">
                <a:solidFill>
                  <a:srgbClr val="E6E9EF"/>
                </a:solidFill>
                <a:latin typeface="Consolas"/>
              </a:rPr>
              <a:t>p.addiu(T3, T3, 1);             // i++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950" b="0" i="0">
                <a:solidFill>
                  <a:srgbClr val="E6E9EF"/>
                </a:solidFill>
                <a:latin typeface="Consolas"/>
              </a:rPr>
              <a:t>p.j("bucle");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pPr algn="l"/>
            <a:r>
              <a:rPr sz="1900" b="1" i="0">
                <a:solidFill>
                  <a:srgbClr val="1F497D"/>
                </a:solidFill>
                <a:latin typeface="Gill Sans MT"/>
              </a:rPr>
              <a:t>Integral  -  1²+2²+3²+4² = 30 en 56 ciclos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 wrap="square"/>
          <a:lstStyle/>
          <a:p>
            <a:pPr algn="l" marL="237744" indent="-237744">
              <a:lnSpc>
                <a:spcPct val="110000"/>
              </a:lnSpc>
              <a:spcAft>
                <a:spcPts val="700"/>
              </a:spcAft>
            </a:pPr>
            <a:r>
              <a:rPr sz="1250" b="0" i="0">
                <a:solidFill>
                  <a:srgbClr val="404040"/>
                </a:solidFill>
              </a:rPr>
              <a:t>•</a:t>
            </a:r>
            <a:r>
              <a:rPr sz="1250" b="1" i="0">
                <a:solidFill>
                  <a:srgbClr val="404040"/>
                </a:solidFill>
              </a:rPr>
              <a:t>Objetivo</a:t>
            </a:r>
            <a:r>
              <a:rPr sz="1250" b="0" i="0">
                <a:solidFill>
                  <a:srgbClr val="404040"/>
                </a:solidFill>
              </a:rPr>
              <a:t>: integral de x² en [1,5] -&gt; </a:t>
            </a:r>
            <a:r>
              <a:rPr sz="1250" b="1" i="0">
                <a:solidFill>
                  <a:srgbClr val="404040"/>
                </a:solidFill>
              </a:rPr>
              <a:t>30</a:t>
            </a:r>
          </a:p>
          <a:p>
            <a:pPr algn="l" marL="237744" indent="-237744">
              <a:lnSpc>
                <a:spcPct val="110000"/>
              </a:lnSpc>
              <a:spcAft>
                <a:spcPts val="700"/>
              </a:spcAft>
            </a:pPr>
            <a:r>
              <a:rPr sz="1250" b="0" i="0">
                <a:solidFill>
                  <a:srgbClr val="404040"/>
                </a:solidFill>
              </a:rPr>
              <a:t>•`mult` + `mflo` calculan x·x</a:t>
            </a:r>
          </a:p>
          <a:p>
            <a:pPr algn="l" marL="237744" indent="-237744">
              <a:lnSpc>
                <a:spcPct val="110000"/>
              </a:lnSpc>
              <a:spcAft>
                <a:spcPts val="700"/>
              </a:spcAft>
            </a:pPr>
            <a:r>
              <a:rPr sz="1250" b="0" i="0">
                <a:solidFill>
                  <a:srgbClr val="404040"/>
                </a:solidFill>
              </a:rPr>
              <a:t>•Recorre x de abajo hacia arriba con `addiu`</a:t>
            </a:r>
          </a:p>
          <a:p>
            <a:pPr algn="l" marL="237744" indent="-237744">
              <a:lnSpc>
                <a:spcPct val="110000"/>
              </a:lnSpc>
              <a:spcAft>
                <a:spcPts val="700"/>
              </a:spcAft>
            </a:pPr>
            <a:r>
              <a:rPr sz="1250" b="0" i="0">
                <a:solidFill>
                  <a:srgbClr val="404040"/>
                </a:solidFill>
              </a:rPr>
              <a:t>•Acumula en `T2` y compara con `slt` / `beq`</a:t>
            </a:r>
          </a:p>
          <a:p>
            <a:pPr algn="l" marL="237744" indent="-237744">
              <a:lnSpc>
                <a:spcPct val="110000"/>
              </a:lnSpc>
              <a:spcAft>
                <a:spcPts val="700"/>
              </a:spcAft>
            </a:pPr>
            <a:r>
              <a:rPr sz="1250" b="0" i="0">
                <a:solidFill>
                  <a:srgbClr val="404040"/>
                </a:solidFill>
              </a:rPr>
              <a:t>•El mas corto: 56 ciclos</a:t>
            </a:r>
          </a:p>
          <a:p>
            <a:pPr algn="l" marL="237744" indent="-237744">
              <a:lnSpc>
                <a:spcPct val="110000"/>
              </a:lnSpc>
              <a:spcAft>
                <a:spcPts val="700"/>
              </a:spcAft>
            </a:pPr>
            <a:r>
              <a:rPr sz="1250" b="0" i="0">
                <a:solidFill>
                  <a:srgbClr val="404040"/>
                </a:solidFill>
              </a:rPr>
              <a:t>•Codigo: `src/programas/Integral.java`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21608" y="1472184"/>
            <a:ext cx="4855464" cy="3099816"/>
          </a:xfrm>
          <a:prstGeom prst="roundRect">
            <a:avLst>
              <a:gd name="adj" fmla="val 8000"/>
            </a:avLst>
          </a:prstGeom>
          <a:solidFill>
            <a:srgbClr val="1E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950" b="0" i="0">
                <a:solidFill>
                  <a:srgbClr val="E6E9EF"/>
                </a:solidFill>
                <a:latin typeface="Consolas"/>
              </a:rPr>
              <a:t>p.cargarConstante(T2, 0);    // acumulado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950" b="0" i="0">
                <a:solidFill>
                  <a:srgbClr val="E6E9EF"/>
                </a:solidFill>
                <a:latin typeface="Consolas"/>
              </a:rPr>
              <a:t>p.mover(T3, T0);             // x = limite inferior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950" b="0" i="0">
                <a:solidFill>
                  <a:srgbClr val="E6E9EF"/>
                </a:solidFill>
                <a:latin typeface="Consolas"/>
              </a:rPr>
              <a:t>p.etiqueta("bucle");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950" b="0" i="0">
                <a:solidFill>
                  <a:srgbClr val="E6E9EF"/>
                </a:solidFill>
                <a:latin typeface="Consolas"/>
              </a:rPr>
              <a:t>p.slt(T4, T3, T1);           // 1 si x &lt; superior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950" b="0" i="0">
                <a:solidFill>
                  <a:srgbClr val="E6E9EF"/>
                </a:solidFill>
                <a:latin typeface="Consolas"/>
              </a:rPr>
              <a:t>p.beq(T4, ZERO, "fin_bucle");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950" b="0" i="0">
                <a:solidFill>
                  <a:srgbClr val="E6E9EF"/>
                </a:solidFill>
                <a:latin typeface="Consolas"/>
              </a:rPr>
              <a:t>p.mult(T3, T3);              // x * x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950" b="0" i="0">
                <a:solidFill>
                  <a:srgbClr val="E6E9EF"/>
                </a:solidFill>
                <a:latin typeface="Consolas"/>
              </a:rPr>
              <a:t>p.mflo(T4);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950" b="0" i="0">
                <a:solidFill>
                  <a:srgbClr val="E6E9EF"/>
                </a:solidFill>
                <a:latin typeface="Consolas"/>
              </a:rPr>
              <a:t>p.addu(T2, T2, T4);          // suma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950" b="0" i="0">
                <a:solidFill>
                  <a:srgbClr val="E6E9EF"/>
                </a:solidFill>
                <a:latin typeface="Consolas"/>
              </a:rPr>
              <a:t>p.addiu(T3, T3, 1);          // x++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950" b="0" i="0">
                <a:solidFill>
                  <a:srgbClr val="E6E9EF"/>
                </a:solidFill>
                <a:latin typeface="Consolas"/>
              </a:rPr>
              <a:t>p.j("bucle");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950" b="0" i="0">
                <a:solidFill>
                  <a:srgbClr val="E6E9EF"/>
                </a:solidFill>
                <a:latin typeface="Consolas"/>
              </a:rPr>
              <a:t>p.etiqueta("fin_bucle");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pPr algn="l"/>
            <a:r>
              <a:rPr sz="1900" b="1" i="0">
                <a:solidFill>
                  <a:srgbClr val="1F497D"/>
                </a:solidFill>
                <a:latin typeface="Gill Sans MT"/>
              </a:rPr>
              <a:t>Promedio  -  {4,8,15,16,23} = 13 en 123 ciclos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 wrap="square"/>
          <a:lstStyle/>
          <a:p>
            <a:pPr algn="l" marL="237744" indent="-237744">
              <a:lnSpc>
                <a:spcPct val="110000"/>
              </a:lnSpc>
              <a:spcAft>
                <a:spcPts val="700"/>
              </a:spcAft>
            </a:pPr>
            <a:r>
              <a:rPr sz="1250" b="0" i="0">
                <a:solidFill>
                  <a:srgbClr val="404040"/>
                </a:solidFill>
              </a:rPr>
              <a:t>•</a:t>
            </a:r>
            <a:r>
              <a:rPr sz="1250" b="1" i="0">
                <a:solidFill>
                  <a:srgbClr val="404040"/>
                </a:solidFill>
              </a:rPr>
              <a:t>Objetivo</a:t>
            </a:r>
            <a:r>
              <a:rPr sz="1250" b="0" i="0">
                <a:solidFill>
                  <a:srgbClr val="404040"/>
                </a:solidFill>
              </a:rPr>
              <a:t>: promedio entero -&gt; </a:t>
            </a:r>
            <a:r>
              <a:rPr sz="1250" b="1" i="0">
                <a:solidFill>
                  <a:srgbClr val="404040"/>
                </a:solidFill>
              </a:rPr>
              <a:t>13</a:t>
            </a:r>
            <a:r>
              <a:rPr sz="1250" b="0" i="0">
                <a:solidFill>
                  <a:srgbClr val="404040"/>
                </a:solidFill>
              </a:rPr>
              <a:t> (66 / 5)</a:t>
            </a:r>
          </a:p>
          <a:p>
            <a:pPr algn="l" marL="237744" indent="-237744">
              <a:lnSpc>
                <a:spcPct val="110000"/>
              </a:lnSpc>
              <a:spcAft>
                <a:spcPts val="700"/>
              </a:spcAft>
            </a:pPr>
            <a:r>
              <a:rPr sz="1250" b="0" i="0">
                <a:solidFill>
                  <a:srgbClr val="404040"/>
                </a:solidFill>
              </a:rPr>
              <a:t>•Vector en la </a:t>
            </a:r>
            <a:r>
              <a:rPr sz="1250" b="1" i="0">
                <a:solidFill>
                  <a:srgbClr val="404040"/>
                </a:solidFill>
              </a:rPr>
              <a:t>RAM</a:t>
            </a:r>
            <a:r>
              <a:rPr sz="1250" b="0" i="0">
                <a:solidFill>
                  <a:srgbClr val="404040"/>
                </a:solidFill>
              </a:rPr>
              <a:t>, se recorre con `lw`</a:t>
            </a:r>
          </a:p>
          <a:p>
            <a:pPr algn="l" marL="237744" indent="-237744">
              <a:lnSpc>
                <a:spcPct val="110000"/>
              </a:lnSpc>
              <a:spcAft>
                <a:spcPts val="700"/>
              </a:spcAft>
            </a:pPr>
            <a:r>
              <a:rPr sz="1250" b="0" i="0">
                <a:solidFill>
                  <a:srgbClr val="404040"/>
                </a:solidFill>
              </a:rPr>
              <a:t>•Dos bucles: imprimir y sumar (el mas largo)</a:t>
            </a:r>
          </a:p>
          <a:p>
            <a:pPr algn="l" marL="237744" indent="-237744">
              <a:lnSpc>
                <a:spcPct val="110000"/>
              </a:lnSpc>
              <a:spcAft>
                <a:spcPts val="700"/>
              </a:spcAft>
            </a:pPr>
            <a:r>
              <a:rPr sz="1250" b="0" i="0">
                <a:solidFill>
                  <a:srgbClr val="404040"/>
                </a:solidFill>
              </a:rPr>
              <a:t>•`div` + `mflo` deja el cociente entero en `T7`</a:t>
            </a:r>
          </a:p>
          <a:p>
            <a:pPr algn="l" marL="237744" indent="-237744">
              <a:lnSpc>
                <a:spcPct val="110000"/>
              </a:lnSpc>
              <a:spcAft>
                <a:spcPts val="700"/>
              </a:spcAft>
            </a:pPr>
            <a:r>
              <a:rPr sz="1250" b="0" i="0">
                <a:solidFill>
                  <a:srgbClr val="404040"/>
                </a:solidFill>
              </a:rPr>
              <a:t>•Direccion base + indice: `addu T6, T4, T1`</a:t>
            </a:r>
          </a:p>
          <a:p>
            <a:pPr algn="l" marL="237744" indent="-237744">
              <a:lnSpc>
                <a:spcPct val="110000"/>
              </a:lnSpc>
              <a:spcAft>
                <a:spcPts val="700"/>
              </a:spcAft>
            </a:pPr>
            <a:r>
              <a:rPr sz="1250" b="0" i="0">
                <a:solidFill>
                  <a:srgbClr val="404040"/>
                </a:solidFill>
              </a:rPr>
              <a:t>•Codigo: `src/programas/Promedio.java`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21608" y="1472184"/>
            <a:ext cx="4855464" cy="3099816"/>
          </a:xfrm>
          <a:prstGeom prst="roundRect">
            <a:avLst>
              <a:gd name="adj" fmla="val 8000"/>
            </a:avLst>
          </a:prstGeom>
          <a:solidFill>
            <a:srgbClr val="1E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950" b="0" i="0">
                <a:solidFill>
                  <a:srgbClr val="E6E9EF"/>
                </a:solidFill>
                <a:latin typeface="Consolas"/>
              </a:rPr>
              <a:t>int dirVec = p.palabra(4);   // vector en RAM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950" b="0" i="0">
                <a:solidFill>
                  <a:srgbClr val="E6E9EF"/>
                </a:solidFill>
                <a:latin typeface="Consolas"/>
              </a:rPr>
              <a:t>p.palabra(8); p.palabra(15);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950" b="0" i="0">
                <a:solidFill>
                  <a:srgbClr val="E6E9EF"/>
                </a:solidFill>
                <a:latin typeface="Consolas"/>
              </a:rPr>
              <a:t>p.palabra(16); p.palabra(23);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950" b="0" i="0">
                <a:solidFill>
                  <a:srgbClr val="E6E9EF"/>
                </a:solidFill>
                <a:latin typeface="Consolas"/>
              </a:rPr>
              <a:t>p.etiqueta("sumar");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950" b="0" i="0">
                <a:solidFill>
                  <a:srgbClr val="E6E9EF"/>
                </a:solidFill>
                <a:latin typeface="Consolas"/>
              </a:rPr>
              <a:t>p.slt(T5, T1, T0);           // i &lt; n ?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950" b="0" i="0">
                <a:solidFill>
                  <a:srgbClr val="E6E9EF"/>
                </a:solidFill>
                <a:latin typeface="Consolas"/>
              </a:rPr>
              <a:t>p.beq(T5, ZERO, "fin_suma");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950" b="0" i="0">
                <a:solidFill>
                  <a:srgbClr val="E6E9EF"/>
                </a:solidFill>
                <a:latin typeface="Consolas"/>
              </a:rPr>
              <a:t>p.addu(T6, T4, T1);          // direccion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950" b="0" i="0">
                <a:solidFill>
                  <a:srgbClr val="E6E9EF"/>
                </a:solidFill>
                <a:latin typeface="Consolas"/>
              </a:rPr>
              <a:t>p.lw(T6, T6, 0);             // lee vector[i]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950" b="0" i="0">
                <a:solidFill>
                  <a:srgbClr val="E6E9EF"/>
                </a:solidFill>
                <a:latin typeface="Consolas"/>
              </a:rPr>
              <a:t>p.addu(T2, T2, T6);          // suma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950" b="0" i="0">
                <a:solidFill>
                  <a:srgbClr val="E6E9EF"/>
                </a:solidFill>
                <a:latin typeface="Consolas"/>
              </a:rPr>
              <a:t>p.addiu(T1, T1, 1);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950" b="0" i="0">
                <a:solidFill>
                  <a:srgbClr val="E6E9EF"/>
                </a:solidFill>
                <a:latin typeface="Consolas"/>
              </a:rPr>
              <a:t>p.j("sumar");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950" b="0" i="0">
                <a:solidFill>
                  <a:srgbClr val="E6E9EF"/>
                </a:solidFill>
                <a:latin typeface="Consolas"/>
              </a:rPr>
              <a:t>p.div(T2, T0);   p.mflo(T7); // promedio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pPr algn="l"/>
            <a:r>
              <a:rPr sz="1900" b="1" i="0">
                <a:solidFill>
                  <a:srgbClr val="1F497D"/>
                </a:solidFill>
                <a:latin typeface="Gill Sans MT"/>
              </a:rPr>
              <a:t>Perceptron  -  z = 3 -&gt; y = 1 en 62 ciclos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 wrap="square"/>
          <a:lstStyle/>
          <a:p>
            <a:pPr algn="l" marL="237744" indent="-237744">
              <a:lnSpc>
                <a:spcPct val="110000"/>
              </a:lnSpc>
              <a:spcAft>
                <a:spcPts val="700"/>
              </a:spcAft>
            </a:pPr>
            <a:r>
              <a:rPr sz="1250" b="0" i="0">
                <a:solidFill>
                  <a:srgbClr val="404040"/>
                </a:solidFill>
              </a:rPr>
              <a:t>•</a:t>
            </a:r>
            <a:r>
              <a:rPr sz="1250" b="1" i="0">
                <a:solidFill>
                  <a:srgbClr val="404040"/>
                </a:solidFill>
              </a:rPr>
              <a:t>Objetivo</a:t>
            </a:r>
            <a:r>
              <a:rPr sz="1250" b="0" i="0">
                <a:solidFill>
                  <a:srgbClr val="404040"/>
                </a:solidFill>
              </a:rPr>
              <a:t>: red neuronal minima -&gt; </a:t>
            </a:r>
            <a:r>
              <a:rPr sz="1250" b="1" i="0">
                <a:solidFill>
                  <a:srgbClr val="404040"/>
                </a:solidFill>
              </a:rPr>
              <a:t>z = 3</a:t>
            </a:r>
            <a:r>
              <a:rPr sz="1250" b="0" i="0">
                <a:solidFill>
                  <a:srgbClr val="404040"/>
                </a:solidFill>
              </a:rPr>
              <a:t>, </a:t>
            </a:r>
            <a:r>
              <a:rPr sz="1250" b="1" i="0">
                <a:solidFill>
                  <a:srgbClr val="404040"/>
                </a:solidFill>
              </a:rPr>
              <a:t>y = 1</a:t>
            </a:r>
          </a:p>
          <a:p>
            <a:pPr algn="l" marL="237744" indent="-237744">
              <a:lnSpc>
                <a:spcPct val="110000"/>
              </a:lnSpc>
              <a:spcAft>
                <a:spcPts val="700"/>
              </a:spcAft>
            </a:pPr>
            <a:r>
              <a:rPr sz="1250" b="0" i="0">
                <a:solidFill>
                  <a:srgbClr val="404040"/>
                </a:solidFill>
              </a:rPr>
              <a:t>•Entradas x, pesos w y bias guardados en </a:t>
            </a:r>
            <a:r>
              <a:rPr sz="1250" b="1" i="0">
                <a:solidFill>
                  <a:srgbClr val="404040"/>
                </a:solidFill>
              </a:rPr>
              <a:t>RAM</a:t>
            </a:r>
          </a:p>
          <a:p>
            <a:pPr algn="l" marL="237744" indent="-237744">
              <a:lnSpc>
                <a:spcPct val="110000"/>
              </a:lnSpc>
              <a:spcAft>
                <a:spcPts val="700"/>
              </a:spcAft>
            </a:pPr>
            <a:r>
              <a:rPr sz="1250" b="0" i="0">
                <a:solidFill>
                  <a:srgbClr val="404040"/>
                </a:solidFill>
              </a:rPr>
              <a:t>•Producto por elemento con `mult` + `mflo`, suma en `T2`</a:t>
            </a:r>
          </a:p>
          <a:p>
            <a:pPr algn="l" marL="237744" indent="-237744">
              <a:lnSpc>
                <a:spcPct val="110000"/>
              </a:lnSpc>
              <a:spcAft>
                <a:spcPts val="700"/>
              </a:spcAft>
            </a:pPr>
            <a:r>
              <a:rPr sz="1250" b="0" i="0">
                <a:solidFill>
                  <a:srgbClr val="404040"/>
                </a:solidFill>
              </a:rPr>
              <a:t>•Activacion escalonada: `slt` + `bne` (si z &lt; 0, y = 0)</a:t>
            </a:r>
          </a:p>
          <a:p>
            <a:pPr algn="l" marL="237744" indent="-237744">
              <a:lnSpc>
                <a:spcPct val="110000"/>
              </a:lnSpc>
              <a:spcAft>
                <a:spcPts val="700"/>
              </a:spcAft>
            </a:pPr>
            <a:r>
              <a:rPr sz="1250" b="0" i="0">
                <a:solidFill>
                  <a:srgbClr val="404040"/>
                </a:solidFill>
              </a:rPr>
              <a:t>•Codigo: `src/programas/Perceptron.java`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21608" y="1472184"/>
            <a:ext cx="4855464" cy="3099816"/>
          </a:xfrm>
          <a:prstGeom prst="roundRect">
            <a:avLst>
              <a:gd name="adj" fmla="val 8000"/>
            </a:avLst>
          </a:prstGeom>
          <a:solidFill>
            <a:srgbClr val="1E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950" b="0" i="0">
                <a:solidFill>
                  <a:srgbClr val="E6E9EF"/>
                </a:solidFill>
                <a:latin typeface="Consolas"/>
              </a:rPr>
              <a:t>int dirX = p.palabra(1);   // entradas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950" b="0" i="0">
                <a:solidFill>
                  <a:srgbClr val="E6E9EF"/>
                </a:solidFill>
                <a:latin typeface="Consolas"/>
              </a:rPr>
              <a:t>p.palabra(1); p.palabra(0);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950" b="0" i="0">
                <a:solidFill>
                  <a:srgbClr val="E6E9EF"/>
                </a:solidFill>
                <a:latin typeface="Consolas"/>
              </a:rPr>
              <a:t>int dirW = p.palabra(2);   // pesos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950" b="0" i="0">
                <a:solidFill>
                  <a:srgbClr val="E6E9EF"/>
                </a:solidFill>
                <a:latin typeface="Consolas"/>
              </a:rPr>
              <a:t>p.palabra(2); p.palabra(-3);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950" b="0" i="0">
                <a:solidFill>
                  <a:srgbClr val="E6E9EF"/>
                </a:solidFill>
                <a:latin typeface="Consolas"/>
              </a:rPr>
              <a:t>p.mult(T5, T4);            // w[i] * x[i]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950" b="0" i="0">
                <a:solidFill>
                  <a:srgbClr val="E6E9EF"/>
                </a:solidFill>
                <a:latin typeface="Consolas"/>
              </a:rPr>
              <a:t>p.mflo(T7);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950" b="0" i="0">
                <a:solidFill>
                  <a:srgbClr val="E6E9EF"/>
                </a:solidFill>
                <a:latin typeface="Consolas"/>
              </a:rPr>
              <a:t>p.addu(T2, T2, T7);        // z += ...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950" b="0" i="0">
                <a:solidFill>
                  <a:srgbClr val="E6E9EF"/>
                </a:solidFill>
                <a:latin typeface="Consolas"/>
              </a:rPr>
              <a:t>p.slt(T3, T2, ZERO);       // z &lt; 0 ?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950" b="0" i="0">
                <a:solidFill>
                  <a:srgbClr val="E6E9EF"/>
                </a:solidFill>
                <a:latin typeface="Consolas"/>
              </a:rPr>
              <a:t>p.bne(T3, ZERO, "imprimir");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950" b="0" i="0">
                <a:solidFill>
                  <a:srgbClr val="E6E9EF"/>
                </a:solidFill>
                <a:latin typeface="Consolas"/>
              </a:rPr>
              <a:t>p.cargarConstante(T9, 1);  // y = 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000" b="1" i="0">
                <a:solidFill>
                  <a:srgbClr val="1F497D"/>
                </a:solidFill>
                <a:latin typeface="Gill Sans MT"/>
              </a:rPr>
              <a:t>Evidencia de ejecucion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pPr algn="l" marL="237744" indent="-237744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404040"/>
                </a:solidFill>
              </a:rPr>
              <a:t>java -cp out ui.Emulador factorial --estado   -&gt;   5040 en 63 ciclos, PC = 25, LO = 5040, RAM con el programa</a:t>
            </a:r>
          </a:p>
        </p:txBody>
      </p:sp>
      <p:pic>
        <p:nvPicPr>
          <p:cNvPr id="5" name="Picture 4" descr="ev_factorial_f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5631" y="932192"/>
            <a:ext cx="3554200" cy="2919372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400" b="1" i="0">
                <a:solidFill>
                  <a:srgbClr val="1F497D"/>
                </a:solidFill>
                <a:latin typeface="Gill Sans MT"/>
              </a:rPr>
              <a:t>Demo en vivo (3 minutos)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>
          <a:xfrm>
            <a:off x="1228954" y="2834640"/>
            <a:ext cx="7457846" cy="1783080"/>
          </a:xfrm>
        </p:spPr>
        <p:txBody>
          <a:bodyPr wrap="square"/>
          <a:lstStyle/>
          <a:p>
            <a:pPr algn="l" marL="237744" indent="-237744">
              <a:lnSpc>
                <a:spcPct val="115000"/>
              </a:lnSpc>
              <a:spcAft>
                <a:spcPts val="1200"/>
              </a:spcAft>
            </a:pPr>
            <a:r>
              <a:rPr sz="1400" b="0" i="0">
                <a:solidFill>
                  <a:srgbClr val="404040"/>
                </a:solidFill>
              </a:rPr>
              <a:t>•</a:t>
            </a:r>
            <a:r>
              <a:rPr sz="1400" b="1" i="0">
                <a:solidFill>
                  <a:srgbClr val="404040"/>
                </a:solidFill>
              </a:rPr>
              <a:t>`--traza`</a:t>
            </a:r>
            <a:r>
              <a:rPr sz="1400" b="0" i="0">
                <a:solidFill>
                  <a:srgbClr val="404040"/>
                </a:solidFill>
              </a:rPr>
              <a:t> imprime cada ciclo: PC y codigo de la instruccion en hexadecimal</a:t>
            </a:r>
          </a:p>
          <a:p>
            <a:pPr algn="l" marL="237744" indent="-237744">
              <a:lnSpc>
                <a:spcPct val="115000"/>
              </a:lnSpc>
              <a:spcAft>
                <a:spcPts val="1200"/>
              </a:spcAft>
            </a:pPr>
            <a:r>
              <a:rPr sz="1400" b="0" i="0">
                <a:solidFill>
                  <a:srgbClr val="404040"/>
                </a:solidFill>
              </a:rPr>
              <a:t>•</a:t>
            </a:r>
            <a:r>
              <a:rPr sz="1400" b="1" i="0">
                <a:solidFill>
                  <a:srgbClr val="404040"/>
                </a:solidFill>
              </a:rPr>
              <a:t>`--estado`</a:t>
            </a:r>
            <a:r>
              <a:rPr sz="1400" b="0" i="0">
                <a:solidFill>
                  <a:srgbClr val="404040"/>
                </a:solidFill>
              </a:rPr>
              <a:t> vuelca registros, PC, HI/LO y el mapa de memoria al final</a:t>
            </a:r>
          </a:p>
          <a:p>
            <a:pPr algn="l" marL="237744" indent="-237744">
              <a:lnSpc>
                <a:spcPct val="115000"/>
              </a:lnSpc>
              <a:spcAft>
                <a:spcPts val="1200"/>
              </a:spcAft>
            </a:pPr>
            <a:r>
              <a:rPr sz="1400" b="0" i="0">
                <a:solidFill>
                  <a:srgbClr val="404040"/>
                </a:solidFill>
              </a:rPr>
              <a:t>•</a:t>
            </a:r>
            <a:r>
              <a:rPr sz="1400" b="1" i="0">
                <a:solidFill>
                  <a:srgbClr val="404040"/>
                </a:solidFill>
              </a:rPr>
              <a:t>Ventana</a:t>
            </a:r>
            <a:r>
              <a:rPr sz="1400" b="0" i="0">
                <a:solidFill>
                  <a:srgbClr val="404040"/>
                </a:solidFill>
              </a:rPr>
              <a:t>: “Ejecutar 1 ciclo” muestra la instruccion, sus senales de control y el PC siguiente; `Ctrl+Intro` ejecuta un ciclo</a:t>
            </a:r>
          </a:p>
          <a:p>
            <a:pPr algn="l" marL="237744" indent="-237744">
              <a:lnSpc>
                <a:spcPct val="115000"/>
              </a:lnSpc>
              <a:spcAft>
                <a:spcPts val="1200"/>
              </a:spcAft>
            </a:pPr>
            <a:r>
              <a:rPr sz="1400" b="0" i="0">
                <a:solidFill>
                  <a:srgbClr val="404040"/>
                </a:solidFill>
              </a:rPr>
              <a:t>•Todo el estado queda en `salidas/*_captura.txt` (evidencia de la practica)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8138160" cy="1234440"/>
          </a:xfrm>
          <a:prstGeom prst="roundRect">
            <a:avLst>
              <a:gd name="adj" fmla="val 8000"/>
            </a:avLst>
          </a:prstGeom>
          <a:solidFill>
            <a:srgbClr val="1E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36576" bIns="36576"/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8FD48F"/>
                </a:solidFill>
                <a:latin typeface="Consolas"/>
              </a:rPr>
              <a:t>./compilar.sh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8FD48F"/>
                </a:solidFill>
                <a:latin typeface="Consolas"/>
              </a:rPr>
              <a:t>java -cp out ui.Emulador factorial --traza --estado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8FD48F"/>
                </a:solidFill>
                <a:latin typeface="Consolas"/>
              </a:rPr>
              <a:t>./probar.sh          # 201 pruebas, 0 fallidas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8FD48F"/>
                </a:solidFill>
                <a:latin typeface="Consolas"/>
              </a:rPr>
              <a:t>./ventana.sh         # ventana grafica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400" b="1" i="0">
                <a:solidFill>
                  <a:srgbClr val="1F497D"/>
                </a:solidFill>
                <a:latin typeface="Gill Sans MT"/>
              </a:rPr>
              <a:t>Conclusiones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l" marL="237744" indent="-237744">
              <a:lnSpc>
                <a:spcPct val="115000"/>
              </a:lnSpc>
              <a:spcAft>
                <a:spcPts val="1300"/>
              </a:spcAft>
            </a:pPr>
            <a:r>
              <a:rPr sz="1600" b="0" i="0">
                <a:solidFill>
                  <a:srgbClr val="404040"/>
                </a:solidFill>
              </a:rPr>
              <a:t>•</a:t>
            </a:r>
            <a:r>
              <a:rPr sz="1600" b="1" i="0">
                <a:solidFill>
                  <a:srgbClr val="404040"/>
                </a:solidFill>
              </a:rPr>
              <a:t>MIPS fue buena eleccion</a:t>
            </a:r>
            <a:r>
              <a:rPr sz="1600" b="0" i="0">
                <a:solidFill>
                  <a:srgbClr val="404040"/>
                </a:solidFill>
              </a:rPr>
              <a:t>: ISA reducida, 3 formatos fijos y documentacion clara</a:t>
            </a:r>
          </a:p>
          <a:p>
            <a:pPr algn="l" marL="237744" indent="-237744">
              <a:lnSpc>
                <a:spcPct val="115000"/>
              </a:lnSpc>
              <a:spcAft>
                <a:spcPts val="1300"/>
              </a:spcAft>
            </a:pPr>
            <a:r>
              <a:rPr sz="1600" b="0" i="0">
                <a:solidFill>
                  <a:srgbClr val="404040"/>
                </a:solidFill>
              </a:rPr>
              <a:t>•</a:t>
            </a:r>
            <a:r>
              <a:rPr sz="1600" b="1" i="0">
                <a:solidFill>
                  <a:srgbClr val="404040"/>
                </a:solidFill>
              </a:rPr>
              <a:t>Nucleo modular</a:t>
            </a:r>
            <a:r>
              <a:rPr sz="1600" b="0" i="0">
                <a:solidFill>
                  <a:srgbClr val="404040"/>
                </a:solidFill>
              </a:rPr>
              <a:t>: agregar una instruccion toca 4 archivos y nada mas</a:t>
            </a:r>
          </a:p>
          <a:p>
            <a:pPr algn="l" marL="237744" indent="-237744">
              <a:lnSpc>
                <a:spcPct val="115000"/>
              </a:lnSpc>
              <a:spcAft>
                <a:spcPts val="1300"/>
              </a:spcAft>
            </a:pPr>
            <a:r>
              <a:rPr sz="1600" b="0" i="0">
                <a:solidFill>
                  <a:srgbClr val="404040"/>
                </a:solidFill>
              </a:rPr>
              <a:t>•</a:t>
            </a:r>
            <a:r>
              <a:rPr sz="1600" b="1" i="0">
                <a:solidFill>
                  <a:srgbClr val="404040"/>
                </a:solidFill>
              </a:rPr>
              <a:t>La CPU nunca muere</a:t>
            </a:r>
            <a:r>
              <a:rPr sz="1600" b="0" i="0">
                <a:solidFill>
                  <a:srgbClr val="404040"/>
                </a:solidFill>
              </a:rPr>
              <a:t>: arranca en 0, las celdas vacias son NOP y solo `halt` o syscall 10 la paran</a:t>
            </a:r>
          </a:p>
          <a:p>
            <a:pPr algn="l" marL="237744" indent="-237744">
              <a:lnSpc>
                <a:spcPct val="115000"/>
              </a:lnSpc>
              <a:spcAft>
                <a:spcPts val="1300"/>
              </a:spcAft>
            </a:pPr>
            <a:r>
              <a:rPr sz="1600" b="0" i="0">
                <a:solidFill>
                  <a:srgbClr val="404040"/>
                </a:solidFill>
              </a:rPr>
              <a:t>•</a:t>
            </a:r>
            <a:r>
              <a:rPr sz="1600" b="1" i="0">
                <a:solidFill>
                  <a:srgbClr val="404040"/>
                </a:solidFill>
              </a:rPr>
              <a:t>201 pruebas + 5 programas</a:t>
            </a:r>
            <a:r>
              <a:rPr sz="1600" b="0" i="0">
                <a:solidFill>
                  <a:srgbClr val="404040"/>
                </a:solidFill>
              </a:rPr>
              <a:t> con salida exacta = evidencia de que funciona</a:t>
            </a:r>
          </a:p>
          <a:p>
            <a:pPr algn="l" marL="237744" indent="-237744">
              <a:lnSpc>
                <a:spcPct val="115000"/>
              </a:lnSpc>
              <a:spcAft>
                <a:spcPts val="1300"/>
              </a:spcAft>
            </a:pPr>
            <a:r>
              <a:rPr sz="1600" b="0" i="0">
                <a:solidFill>
                  <a:srgbClr val="404040"/>
                </a:solidFill>
              </a:rPr>
              <a:t>•Java permite modelar la circuiteria (bits, registros, senales) sin perder claridad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400" b="1" i="0">
                <a:solidFill>
                  <a:srgbClr val="1F497D"/>
                </a:solidFill>
                <a:latin typeface="Gill Sans MT"/>
              </a:rPr>
              <a:t>Trabajo futuro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l" marL="237744" indent="-237744">
              <a:lnSpc>
                <a:spcPct val="115000"/>
              </a:lnSpc>
              <a:spcAft>
                <a:spcPts val="1300"/>
              </a:spcAft>
            </a:pPr>
            <a:r>
              <a:rPr sz="1600" b="0" i="0">
                <a:solidFill>
                  <a:srgbClr val="404040"/>
                </a:solidFill>
              </a:rPr>
              <a:t>•</a:t>
            </a:r>
            <a:r>
              <a:rPr sz="1600" b="1" i="0">
                <a:solidFill>
                  <a:srgbClr val="404040"/>
                </a:solidFill>
              </a:rPr>
              <a:t>Pipeline</a:t>
            </a:r>
            <a:r>
              <a:rPr sz="1600" b="0" i="0">
                <a:solidFill>
                  <a:srgbClr val="404040"/>
                </a:solidFill>
              </a:rPr>
              <a:t>: las 5 etapas en paralelo y sus riesgos (datos y de control)</a:t>
            </a:r>
          </a:p>
          <a:p>
            <a:pPr algn="l" marL="237744" indent="-237744">
              <a:lnSpc>
                <a:spcPct val="115000"/>
              </a:lnSpc>
              <a:spcAft>
                <a:spcPts val="1300"/>
              </a:spcAft>
            </a:pPr>
            <a:r>
              <a:rPr sz="1600" b="0" i="0">
                <a:solidFill>
                  <a:srgbClr val="404040"/>
                </a:solidFill>
              </a:rPr>
              <a:t>•</a:t>
            </a:r>
            <a:r>
              <a:rPr sz="1600" b="1" i="0">
                <a:solidFill>
                  <a:srgbClr val="404040"/>
                </a:solidFill>
              </a:rPr>
              <a:t>Mas instrucciones</a:t>
            </a:r>
            <a:r>
              <a:rPr sz="1600" b="0" i="0">
                <a:solidFill>
                  <a:srgbClr val="404040"/>
                </a:solidFill>
              </a:rPr>
              <a:t>: `lb` / `sb`, `lui` completo, multiplicacion de 64 bits</a:t>
            </a:r>
          </a:p>
          <a:p>
            <a:pPr algn="l" marL="237744" indent="-237744">
              <a:lnSpc>
                <a:spcPct val="115000"/>
              </a:lnSpc>
              <a:spcAft>
                <a:spcPts val="1300"/>
              </a:spcAft>
            </a:pPr>
            <a:r>
              <a:rPr sz="1600" b="0" i="0">
                <a:solidFill>
                  <a:srgbClr val="404040"/>
                </a:solidFill>
              </a:rPr>
              <a:t>•</a:t>
            </a:r>
            <a:r>
              <a:rPr sz="1600" b="1" i="0">
                <a:solidFill>
                  <a:srgbClr val="404040"/>
                </a:solidFill>
              </a:rPr>
              <a:t>Interrupciones y excepciones</a:t>
            </a:r>
            <a:r>
              <a:rPr sz="1600" b="0" i="0">
                <a:solidFill>
                  <a:srgbClr val="404040"/>
                </a:solidFill>
              </a:rPr>
              <a:t>: el desbordamiento como excepcion real</a:t>
            </a:r>
          </a:p>
          <a:p>
            <a:pPr algn="l" marL="237744" indent="-237744">
              <a:lnSpc>
                <a:spcPct val="115000"/>
              </a:lnSpc>
              <a:spcAft>
                <a:spcPts val="1300"/>
              </a:spcAft>
            </a:pPr>
            <a:r>
              <a:rPr sz="1600" b="0" i="0">
                <a:solidFill>
                  <a:srgbClr val="404040"/>
                </a:solidFill>
              </a:rPr>
              <a:t>•</a:t>
            </a:r>
            <a:r>
              <a:rPr sz="1600" b="1" i="0">
                <a:solidFill>
                  <a:srgbClr val="404040"/>
                </a:solidFill>
              </a:rPr>
              <a:t>Cache y segmentacion</a:t>
            </a:r>
            <a:r>
              <a:rPr sz="1600" b="0" i="0">
                <a:solidFill>
                  <a:srgbClr val="404040"/>
                </a:solidFill>
              </a:rPr>
              <a:t> de la memoria (hoy es un mapa plano de 300 celdas)</a:t>
            </a:r>
          </a:p>
          <a:p>
            <a:pPr algn="l" marL="237744" indent="-237744">
              <a:lnSpc>
                <a:spcPct val="115000"/>
              </a:lnSpc>
              <a:spcAft>
                <a:spcPts val="1300"/>
              </a:spcAft>
            </a:pPr>
            <a:r>
              <a:rPr sz="1600" b="0" i="0">
                <a:solidFill>
                  <a:srgbClr val="404040"/>
                </a:solidFill>
              </a:rPr>
              <a:t>•</a:t>
            </a:r>
            <a:r>
              <a:rPr sz="1600" b="1" i="0">
                <a:solidFill>
                  <a:srgbClr val="404040"/>
                </a:solidFill>
              </a:rPr>
              <a:t>Ensamblador de texto</a:t>
            </a:r>
            <a:r>
              <a:rPr sz="1600" b="0" i="0">
                <a:solidFill>
                  <a:srgbClr val="404040"/>
                </a:solidFill>
              </a:rPr>
              <a:t>: archivo `.s` -&gt; binario, con etiquetas y directivas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783080"/>
            <a:ext cx="0" cy="685800"/>
          </a:xfrm>
        </p:spPr>
        <p:txBody>
          <a:bodyPr wrap="square"/>
          <a:lstStyle/>
          <a:p>
            <a:pPr algn="ctr"/>
            <a:r>
              <a:rPr sz="3600" b="1" i="0">
                <a:solidFill>
                  <a:srgbClr val="1F497D"/>
                </a:solidFill>
                <a:latin typeface="Gill Sans MT"/>
              </a:rPr>
              <a:t>Gracias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ctr" marL="237744" indent="-237744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4F81BD"/>
                </a:solidFill>
              </a:rPr>
              <a:t>¿Preguntas?   ·   Emulador del procesador MIPS en Java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3234 Portada facebook con fotografia_RGB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1" id="{415AA8DD-81A2-4677-ACF8-0A04C71E9C94}" vid="{72B2A3C9-D121-4ECD-A10B-5968BD7E29AE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3973_Presentacion_PPT_16_a_9</Template>
  <TotalTime>7</TotalTime>
  <Words>92</Words>
  <Application>Microsoft Office PowerPoint</Application>
  <PresentationFormat>On-screen Show (16:9)</PresentationFormat>
  <Paragraphs>21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Gill Sans MT</vt:lpstr>
      <vt:lpstr>3234 Portada facebook con fotografia_RGB</vt:lpstr>
      <vt:lpstr>Universidad Veracruzana  Facultad de Ingeniería en Electrónica y Comunicaciones  </vt:lpstr>
      <vt:lpstr>Contenido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Universidad Veracruzana  Facultad de Ingeniería en Electrónica y Comunicaciones  </dc:title>
  <dc:creator>Yadid Asiel Soto</dc:creator>
  <cp:lastModifiedBy>Yadid Asiel Soto</cp:lastModifiedBy>
  <cp:revision>2</cp:revision>
  <dcterms:created xsi:type="dcterms:W3CDTF">2025-09-19T16:39:43Z</dcterms:created>
  <dcterms:modified xsi:type="dcterms:W3CDTF">2025-09-19T16:46:55Z</dcterms:modified>
</cp:coreProperties>
</file>